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glushuk\Desktop\&#1054;&#1090;&#1095;&#1077;&#1090;\&#1044;&#1083;&#1103;%20&#1086;&#1090;&#1095;&#1077;&#1090;&#1072;\&#1044;&#1083;&#1103;%20&#1092;&#1086;&#1088;&#1084;&#1080;&#1088;&#1086;&#1074;&#1072;&#1085;&#1080;&#1103;%20&#1086;&#1090;&#1087;&#1088;&#1072;&#1074;&#1082;&#1080;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A90B-4AF8-81A9-4CD9CBB71668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A90B-4AF8-81A9-4CD9CBB71668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A90B-4AF8-81A9-4CD9CBB71668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A90B-4AF8-81A9-4CD9CBB71668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A90B-4AF8-81A9-4CD9CBB7166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ожидание купажа 53% (745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90B-4AF8-81A9-4CD9CBB716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настройка блока розлива 22% (316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90B-4AF8-81A9-4CD9CBB716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бой тары 15% (210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90B-4AF8-81A9-4CD9CBB716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настройка конвеера 5% (75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90B-4AF8-81A9-4CD9CBB7166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настройка упаковщика 5% (70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90B-4AF8-81A9-4CD9CBB7166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ожидание купажа</c:v>
              </c:pt>
              <c:pt idx="1">
                <c:v>настройка блока розлива</c:v>
              </c:pt>
              <c:pt idx="2">
                <c:v>бой тары</c:v>
              </c:pt>
              <c:pt idx="3">
                <c:v>настройка конвеера</c:v>
              </c:pt>
              <c:pt idx="4">
                <c:v>настройка упаковщика</c:v>
              </c:pt>
            </c:strLit>
          </c:cat>
          <c:val>
            <c:numLit>
              <c:formatCode>General</c:formatCode>
              <c:ptCount val="5"/>
              <c:pt idx="0">
                <c:v>745</c:v>
              </c:pt>
              <c:pt idx="1">
                <c:v>316</c:v>
              </c:pt>
              <c:pt idx="2">
                <c:v>210</c:v>
              </c:pt>
              <c:pt idx="3">
                <c:v>75</c:v>
              </c:pt>
              <c:pt idx="4">
                <c:v>70</c:v>
              </c:pt>
            </c:numLit>
          </c:val>
          <c:extLst>
            <c:ext xmlns:c16="http://schemas.microsoft.com/office/drawing/2014/chart" uri="{C3380CC4-5D6E-409C-BE32-E72D297353CC}">
              <c16:uniqueId val="{0000000A-A90B-4AF8-81A9-4CD9CBB716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85 %)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3003534531281203E-2"/>
          <c:w val="0.91574157480314966"/>
          <c:h val="0.79938508839354339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OEE_Trends_Data!$A$5:$A$34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OEE_Trends_Data!$B$5:$B$34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78.5</c:v>
                </c:pt>
                <c:pt idx="6">
                  <c:v>87.1</c:v>
                </c:pt>
                <c:pt idx="7">
                  <c:v>81.449999999999989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90.2</c:v>
                </c:pt>
                <c:pt idx="26">
                  <c:v>74.599999999999994</c:v>
                </c:pt>
                <c:pt idx="27">
                  <c:v>86.75</c:v>
                </c:pt>
                <c:pt idx="28">
                  <c:v>93.7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43-4506-A060-AFB8BA938B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356601936"/>
        <c:axId val="1356602416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OEE_Trends_Data!$A$5:$A$34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OEE_Trends_Data!$C$5:$C$34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3-4506-A060-AFB8BA938B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6601936"/>
        <c:axId val="1356602416"/>
      </c:lineChart>
      <c:catAx>
        <c:axId val="1356601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356602416"/>
        <c:crosses val="autoZero"/>
        <c:auto val="1"/>
        <c:lblAlgn val="ctr"/>
        <c:lblOffset val="100"/>
        <c:noMultiLvlLbl val="0"/>
      </c:catAx>
      <c:valAx>
        <c:axId val="1356602416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356601936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Бутылки_Сутки_DATA!$B$2:$B$31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7984</c:v>
                </c:pt>
                <c:pt idx="6">
                  <c:v>15112</c:v>
                </c:pt>
                <c:pt idx="7">
                  <c:v>17807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11246</c:v>
                </c:pt>
                <c:pt idx="26">
                  <c:v>13587</c:v>
                </c:pt>
                <c:pt idx="27">
                  <c:v>18847</c:v>
                </c:pt>
                <c:pt idx="28">
                  <c:v>8452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48-4285-AB93-19A4AB81509D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Бутылки_Сутки_DATA!$D$2:$D$31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10167</c:v>
                </c:pt>
                <c:pt idx="6">
                  <c:v>17380</c:v>
                </c:pt>
                <c:pt idx="7">
                  <c:v>22183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12467</c:v>
                </c:pt>
                <c:pt idx="26">
                  <c:v>18100</c:v>
                </c:pt>
                <c:pt idx="27">
                  <c:v>21917</c:v>
                </c:pt>
                <c:pt idx="28">
                  <c:v>9020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48-4285-AB93-19A4AB8150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266046512"/>
        <c:axId val="1266056592"/>
      </c:barChart>
      <c:catAx>
        <c:axId val="1266046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266056592"/>
        <c:crosses val="autoZero"/>
        <c:auto val="1"/>
        <c:lblAlgn val="ctr"/>
        <c:lblOffset val="100"/>
        <c:tickLblSkip val="1"/>
        <c:noMultiLvlLbl val="0"/>
      </c:catAx>
      <c:valAx>
        <c:axId val="1266056592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66046512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6144-48E7-813F-481FB89776EA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6144-48E7-813F-481FB89776EA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6144-48E7-813F-481FB89776EA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6144-48E7-813F-481FB89776EA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6144-48E7-813F-481FB89776E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настройка блока розлива 34% (1350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144-48E7-813F-481FB89776E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настройка упаковщика 25% (1006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144-48E7-813F-481FB89776E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ожидание купажа 22% (880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144-48E7-813F-481FB89776E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настройка чз 10% (393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144-48E7-813F-481FB89776E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настройка укупора 8% (319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144-48E7-813F-481FB89776E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настройка блока розлива</c:v>
              </c:pt>
              <c:pt idx="1">
                <c:v>настройка упаковщика</c:v>
              </c:pt>
              <c:pt idx="2">
                <c:v>ожидание купажа</c:v>
              </c:pt>
              <c:pt idx="3">
                <c:v>настройка чз</c:v>
              </c:pt>
              <c:pt idx="4">
                <c:v>настройка укупора</c:v>
              </c:pt>
            </c:strLit>
          </c:cat>
          <c:val>
            <c:numLit>
              <c:formatCode>General</c:formatCode>
              <c:ptCount val="5"/>
              <c:pt idx="0">
                <c:v>1350</c:v>
              </c:pt>
              <c:pt idx="1">
                <c:v>1006</c:v>
              </c:pt>
              <c:pt idx="2">
                <c:v>880</c:v>
              </c:pt>
              <c:pt idx="3">
                <c:v>393</c:v>
              </c:pt>
              <c:pt idx="4">
                <c:v>319</c:v>
              </c:pt>
            </c:numLit>
          </c:val>
          <c:extLst>
            <c:ext xmlns:c16="http://schemas.microsoft.com/office/drawing/2014/chart" uri="{C3380CC4-5D6E-409C-BE32-E72D297353CC}">
              <c16:uniqueId val="{0000000A-6144-48E7-813F-481FB89776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79 %)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3003534531281203E-2"/>
          <c:w val="0.91574157480314966"/>
          <c:h val="0.79938508839354339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OEE_Trends_Data!$A$73:$A$102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OEE_Trends_Data!$B$73:$B$102</c:f>
              <c:numCache>
                <c:formatCode>General</c:formatCode>
                <c:ptCount val="30"/>
                <c:pt idx="0">
                  <c:v>71.25</c:v>
                </c:pt>
                <c:pt idx="1">
                  <c:v>78.550000000000011</c:v>
                </c:pt>
                <c:pt idx="2">
                  <c:v>95.95</c:v>
                </c:pt>
                <c:pt idx="3">
                  <c:v>102.4</c:v>
                </c:pt>
                <c:pt idx="4">
                  <c:v>76.099999999999994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57.2</c:v>
                </c:pt>
                <c:pt idx="9">
                  <c:v>54.949999999999996</c:v>
                </c:pt>
                <c:pt idx="10">
                  <c:v>70.45</c:v>
                </c:pt>
                <c:pt idx="11">
                  <c:v>92.55</c:v>
                </c:pt>
                <c:pt idx="12">
                  <c:v>49.85</c:v>
                </c:pt>
                <c:pt idx="13">
                  <c:v>62.650000000000006</c:v>
                </c:pt>
                <c:pt idx="14">
                  <c:v>78.849999999999994</c:v>
                </c:pt>
                <c:pt idx="15">
                  <c:v>100.3</c:v>
                </c:pt>
                <c:pt idx="16">
                  <c:v>81.55</c:v>
                </c:pt>
                <c:pt idx="17">
                  <c:v>91.199999999999989</c:v>
                </c:pt>
                <c:pt idx="18">
                  <c:v>88.25</c:v>
                </c:pt>
                <c:pt idx="19">
                  <c:v>0</c:v>
                </c:pt>
                <c:pt idx="20">
                  <c:v>80.5</c:v>
                </c:pt>
                <c:pt idx="21">
                  <c:v>92.15</c:v>
                </c:pt>
                <c:pt idx="22">
                  <c:v>89</c:v>
                </c:pt>
                <c:pt idx="23">
                  <c:v>70.7</c:v>
                </c:pt>
                <c:pt idx="24">
                  <c:v>83.45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3E-4A7A-8108-432CDFB2FB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586148224"/>
        <c:axId val="1586150144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OEE_Trends_Data!$A$73:$A$102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OEE_Trends_Data!$C$73:$C$102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83E-4A7A-8108-432CDFB2FB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6148224"/>
        <c:axId val="1586150144"/>
      </c:lineChart>
      <c:catAx>
        <c:axId val="1586148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86150144"/>
        <c:crosses val="autoZero"/>
        <c:auto val="1"/>
        <c:lblAlgn val="ctr"/>
        <c:lblOffset val="100"/>
        <c:noMultiLvlLbl val="0"/>
      </c:catAx>
      <c:valAx>
        <c:axId val="1586150144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86148224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Бутылки_Сутки_DATA!$A$33:$A$62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Бутылки_Сутки_DATA!$B$33:$B$62</c:f>
              <c:numCache>
                <c:formatCode>General</c:formatCode>
                <c:ptCount val="30"/>
                <c:pt idx="0">
                  <c:v>92752</c:v>
                </c:pt>
                <c:pt idx="1">
                  <c:v>106337</c:v>
                </c:pt>
                <c:pt idx="2">
                  <c:v>115160</c:v>
                </c:pt>
                <c:pt idx="3">
                  <c:v>169216</c:v>
                </c:pt>
                <c:pt idx="4">
                  <c:v>48324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46200</c:v>
                </c:pt>
                <c:pt idx="9">
                  <c:v>78858</c:v>
                </c:pt>
                <c:pt idx="10">
                  <c:v>60812</c:v>
                </c:pt>
                <c:pt idx="11">
                  <c:v>145541</c:v>
                </c:pt>
                <c:pt idx="12">
                  <c:v>75035</c:v>
                </c:pt>
                <c:pt idx="13">
                  <c:v>96754</c:v>
                </c:pt>
                <c:pt idx="14">
                  <c:v>101122</c:v>
                </c:pt>
                <c:pt idx="15">
                  <c:v>135959</c:v>
                </c:pt>
                <c:pt idx="16">
                  <c:v>139700</c:v>
                </c:pt>
                <c:pt idx="17">
                  <c:v>127340</c:v>
                </c:pt>
                <c:pt idx="18">
                  <c:v>130322</c:v>
                </c:pt>
                <c:pt idx="19">
                  <c:v>0</c:v>
                </c:pt>
                <c:pt idx="20">
                  <c:v>127906</c:v>
                </c:pt>
                <c:pt idx="21">
                  <c:v>153401</c:v>
                </c:pt>
                <c:pt idx="22">
                  <c:v>112869</c:v>
                </c:pt>
                <c:pt idx="23">
                  <c:v>72672</c:v>
                </c:pt>
                <c:pt idx="24">
                  <c:v>104781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E3-4571-91EF-60548B86CBFC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Бутылки_Сутки_DATA!$A$33:$A$62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Бутылки_Сутки_DATA!$D$33:$D$62</c:f>
              <c:numCache>
                <c:formatCode>General</c:formatCode>
                <c:ptCount val="30"/>
                <c:pt idx="0">
                  <c:v>135790</c:v>
                </c:pt>
                <c:pt idx="1">
                  <c:v>132583</c:v>
                </c:pt>
                <c:pt idx="2">
                  <c:v>119633</c:v>
                </c:pt>
                <c:pt idx="3">
                  <c:v>165266</c:v>
                </c:pt>
                <c:pt idx="4">
                  <c:v>63517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80783</c:v>
                </c:pt>
                <c:pt idx="9">
                  <c:v>136900</c:v>
                </c:pt>
                <c:pt idx="10">
                  <c:v>82016</c:v>
                </c:pt>
                <c:pt idx="11">
                  <c:v>157250</c:v>
                </c:pt>
                <c:pt idx="12">
                  <c:v>135666</c:v>
                </c:pt>
                <c:pt idx="13">
                  <c:v>149233</c:v>
                </c:pt>
                <c:pt idx="14">
                  <c:v>126416</c:v>
                </c:pt>
                <c:pt idx="15">
                  <c:v>135544</c:v>
                </c:pt>
                <c:pt idx="16">
                  <c:v>171433</c:v>
                </c:pt>
                <c:pt idx="17">
                  <c:v>140353</c:v>
                </c:pt>
                <c:pt idx="18">
                  <c:v>145040</c:v>
                </c:pt>
                <c:pt idx="19">
                  <c:v>0</c:v>
                </c:pt>
                <c:pt idx="20">
                  <c:v>157866</c:v>
                </c:pt>
                <c:pt idx="21">
                  <c:v>166500</c:v>
                </c:pt>
                <c:pt idx="22">
                  <c:v>128143</c:v>
                </c:pt>
                <c:pt idx="23">
                  <c:v>105450</c:v>
                </c:pt>
                <c:pt idx="24">
                  <c:v>129500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E3-4571-91EF-60548B86CB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266046032"/>
        <c:axId val="1266058032"/>
      </c:barChart>
      <c:catAx>
        <c:axId val="12660460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266058032"/>
        <c:crosses val="autoZero"/>
        <c:auto val="1"/>
        <c:lblAlgn val="ctr"/>
        <c:lblOffset val="100"/>
        <c:tickLblSkip val="1"/>
        <c:noMultiLvlLbl val="0"/>
      </c:catAx>
      <c:valAx>
        <c:axId val="1266058032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66046032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9A1D-4A53-960F-7259E0DDD1DC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9A1D-4A53-960F-7259E0DDD1DC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9A1D-4A53-960F-7259E0DDD1DC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9A1D-4A53-960F-7259E0DDD1DC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9A1D-4A53-960F-7259E0DDD1D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настройка омывателя 30% (1529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A1D-4A53-960F-7259E0DDD1D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настройка упаковщика 24% (1239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A1D-4A53-960F-7259E0DDD1D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ожидание купажа 17% (862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A1D-4A53-960F-7259E0DDD1D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настройка этикетировщика 15% (757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A1D-4A53-960F-7259E0DDD1D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настройка чз 13% (679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A1D-4A53-960F-7259E0DDD1D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настройка омывателя</c:v>
              </c:pt>
              <c:pt idx="1">
                <c:v>настройка упаковщика</c:v>
              </c:pt>
              <c:pt idx="2">
                <c:v>ожидание купажа</c:v>
              </c:pt>
              <c:pt idx="3">
                <c:v>настройка этикетировщика</c:v>
              </c:pt>
              <c:pt idx="4">
                <c:v>настройка чз</c:v>
              </c:pt>
            </c:strLit>
          </c:cat>
          <c:val>
            <c:numLit>
              <c:formatCode>General</c:formatCode>
              <c:ptCount val="5"/>
              <c:pt idx="0">
                <c:v>1529</c:v>
              </c:pt>
              <c:pt idx="1">
                <c:v>1239</c:v>
              </c:pt>
              <c:pt idx="2">
                <c:v>862</c:v>
              </c:pt>
              <c:pt idx="3">
                <c:v>757</c:v>
              </c:pt>
              <c:pt idx="4">
                <c:v>679</c:v>
              </c:pt>
            </c:numLit>
          </c:val>
          <c:extLst>
            <c:ext xmlns:c16="http://schemas.microsoft.com/office/drawing/2014/chart" uri="{C3380CC4-5D6E-409C-BE32-E72D297353CC}">
              <c16:uniqueId val="{0000000A-9A1D-4A53-960F-7259E0DDD1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74 %)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2907945048135784E-2"/>
          <c:w val="0.91574157480314966"/>
          <c:h val="0.79846449136276387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OEE_Trends_Data!$A$141:$A$170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OEE_Trends_Data!$B$141:$B$170</c:f>
              <c:numCache>
                <c:formatCode>General</c:formatCode>
                <c:ptCount val="30"/>
                <c:pt idx="0">
                  <c:v>57</c:v>
                </c:pt>
                <c:pt idx="1">
                  <c:v>84.7</c:v>
                </c:pt>
                <c:pt idx="2">
                  <c:v>65.900000000000006</c:v>
                </c:pt>
                <c:pt idx="3">
                  <c:v>67.3</c:v>
                </c:pt>
                <c:pt idx="4">
                  <c:v>52.650000000000006</c:v>
                </c:pt>
                <c:pt idx="5">
                  <c:v>51.4</c:v>
                </c:pt>
                <c:pt idx="6">
                  <c:v>89.5</c:v>
                </c:pt>
                <c:pt idx="7">
                  <c:v>54.650000000000006</c:v>
                </c:pt>
                <c:pt idx="8">
                  <c:v>62.800000000000004</c:v>
                </c:pt>
                <c:pt idx="9">
                  <c:v>79.849999999999994</c:v>
                </c:pt>
                <c:pt idx="10">
                  <c:v>41.45</c:v>
                </c:pt>
                <c:pt idx="11">
                  <c:v>62.1</c:v>
                </c:pt>
                <c:pt idx="12">
                  <c:v>50.300000000000004</c:v>
                </c:pt>
                <c:pt idx="13">
                  <c:v>43.65</c:v>
                </c:pt>
                <c:pt idx="14">
                  <c:v>85.699999999999989</c:v>
                </c:pt>
                <c:pt idx="15">
                  <c:v>88.199999999999989</c:v>
                </c:pt>
                <c:pt idx="16">
                  <c:v>73.849999999999994</c:v>
                </c:pt>
                <c:pt idx="17">
                  <c:v>91.300000000000011</c:v>
                </c:pt>
                <c:pt idx="18">
                  <c:v>83.55</c:v>
                </c:pt>
                <c:pt idx="19">
                  <c:v>0</c:v>
                </c:pt>
                <c:pt idx="20">
                  <c:v>91.050000000000011</c:v>
                </c:pt>
                <c:pt idx="21">
                  <c:v>97.199999999999989</c:v>
                </c:pt>
                <c:pt idx="22">
                  <c:v>88.7</c:v>
                </c:pt>
                <c:pt idx="23">
                  <c:v>71.05</c:v>
                </c:pt>
                <c:pt idx="24">
                  <c:v>96.550000000000011</c:v>
                </c:pt>
                <c:pt idx="25">
                  <c:v>74.199999999999989</c:v>
                </c:pt>
                <c:pt idx="26">
                  <c:v>74.75</c:v>
                </c:pt>
                <c:pt idx="27">
                  <c:v>95.300000000000011</c:v>
                </c:pt>
                <c:pt idx="28">
                  <c:v>80.949999999999989</c:v>
                </c:pt>
                <c:pt idx="29">
                  <c:v>96.15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F6-4191-8AD7-7BF4EE3222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233061456"/>
        <c:axId val="1233060976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OEE_Trends_Data!$A$141:$A$170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OEE_Trends_Data!$C$141:$C$170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F6-4191-8AD7-7BF4EE3222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3061456"/>
        <c:axId val="1233060976"/>
      </c:lineChart>
      <c:catAx>
        <c:axId val="1233061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233060976"/>
        <c:crosses val="autoZero"/>
        <c:auto val="1"/>
        <c:lblAlgn val="ctr"/>
        <c:lblOffset val="100"/>
        <c:noMultiLvlLbl val="0"/>
      </c:catAx>
      <c:valAx>
        <c:axId val="1233060976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233061456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Бутылки_Сутки_DATA!$A$64:$A$93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Бутылки_Сутки_DATA!$B$64:$B$93</c:f>
              <c:numCache>
                <c:formatCode>General</c:formatCode>
                <c:ptCount val="30"/>
                <c:pt idx="0">
                  <c:v>47174</c:v>
                </c:pt>
                <c:pt idx="1">
                  <c:v>70009</c:v>
                </c:pt>
                <c:pt idx="2">
                  <c:v>39967</c:v>
                </c:pt>
                <c:pt idx="3">
                  <c:v>55396</c:v>
                </c:pt>
                <c:pt idx="4">
                  <c:v>49151</c:v>
                </c:pt>
                <c:pt idx="5">
                  <c:v>35347</c:v>
                </c:pt>
                <c:pt idx="6">
                  <c:v>64770</c:v>
                </c:pt>
                <c:pt idx="7">
                  <c:v>26397</c:v>
                </c:pt>
                <c:pt idx="8">
                  <c:v>48474</c:v>
                </c:pt>
                <c:pt idx="9">
                  <c:v>43435</c:v>
                </c:pt>
                <c:pt idx="10">
                  <c:v>31177</c:v>
                </c:pt>
                <c:pt idx="11">
                  <c:v>53886</c:v>
                </c:pt>
                <c:pt idx="12">
                  <c:v>36812</c:v>
                </c:pt>
                <c:pt idx="13">
                  <c:v>35931</c:v>
                </c:pt>
                <c:pt idx="14">
                  <c:v>57120</c:v>
                </c:pt>
                <c:pt idx="15">
                  <c:v>18374</c:v>
                </c:pt>
                <c:pt idx="16">
                  <c:v>53730</c:v>
                </c:pt>
                <c:pt idx="17">
                  <c:v>48711</c:v>
                </c:pt>
                <c:pt idx="18">
                  <c:v>63395</c:v>
                </c:pt>
                <c:pt idx="19">
                  <c:v>0</c:v>
                </c:pt>
                <c:pt idx="20">
                  <c:v>63787</c:v>
                </c:pt>
                <c:pt idx="21">
                  <c:v>63342</c:v>
                </c:pt>
                <c:pt idx="22">
                  <c:v>73683</c:v>
                </c:pt>
                <c:pt idx="23">
                  <c:v>50937</c:v>
                </c:pt>
                <c:pt idx="24">
                  <c:v>62426</c:v>
                </c:pt>
                <c:pt idx="25">
                  <c:v>46569</c:v>
                </c:pt>
                <c:pt idx="26">
                  <c:v>54376</c:v>
                </c:pt>
                <c:pt idx="27">
                  <c:v>59673</c:v>
                </c:pt>
                <c:pt idx="28">
                  <c:v>55001</c:v>
                </c:pt>
                <c:pt idx="29">
                  <c:v>54539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DE-441C-AD1E-0FD7DA136C43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Бутылки_Сутки_DATA!$A$64:$A$93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Бутылки_Сутки_DATA!$D$64:$D$93</c:f>
              <c:numCache>
                <c:formatCode>General</c:formatCode>
                <c:ptCount val="30"/>
                <c:pt idx="0">
                  <c:v>71634</c:v>
                </c:pt>
                <c:pt idx="1">
                  <c:v>82634</c:v>
                </c:pt>
                <c:pt idx="2">
                  <c:v>59314</c:v>
                </c:pt>
                <c:pt idx="3">
                  <c:v>84034</c:v>
                </c:pt>
                <c:pt idx="4">
                  <c:v>93334</c:v>
                </c:pt>
                <c:pt idx="5">
                  <c:v>72800</c:v>
                </c:pt>
                <c:pt idx="6">
                  <c:v>72527</c:v>
                </c:pt>
                <c:pt idx="7">
                  <c:v>53650</c:v>
                </c:pt>
                <c:pt idx="8">
                  <c:v>75850</c:v>
                </c:pt>
                <c:pt idx="9">
                  <c:v>55006</c:v>
                </c:pt>
                <c:pt idx="10">
                  <c:v>89317</c:v>
                </c:pt>
                <c:pt idx="11">
                  <c:v>87266</c:v>
                </c:pt>
                <c:pt idx="12">
                  <c:v>69930</c:v>
                </c:pt>
                <c:pt idx="13">
                  <c:v>82017</c:v>
                </c:pt>
                <c:pt idx="14">
                  <c:v>66787</c:v>
                </c:pt>
                <c:pt idx="15">
                  <c:v>22693</c:v>
                </c:pt>
                <c:pt idx="16">
                  <c:v>69067</c:v>
                </c:pt>
                <c:pt idx="17">
                  <c:v>52733</c:v>
                </c:pt>
                <c:pt idx="18">
                  <c:v>78047</c:v>
                </c:pt>
                <c:pt idx="19">
                  <c:v>0</c:v>
                </c:pt>
                <c:pt idx="20">
                  <c:v>70670</c:v>
                </c:pt>
                <c:pt idx="21">
                  <c:v>92809</c:v>
                </c:pt>
                <c:pt idx="22">
                  <c:v>82800</c:v>
                </c:pt>
                <c:pt idx="23">
                  <c:v>76034</c:v>
                </c:pt>
                <c:pt idx="24">
                  <c:v>64010</c:v>
                </c:pt>
                <c:pt idx="25">
                  <c:v>62777</c:v>
                </c:pt>
                <c:pt idx="26">
                  <c:v>73000</c:v>
                </c:pt>
                <c:pt idx="27">
                  <c:v>63040</c:v>
                </c:pt>
                <c:pt idx="28">
                  <c:v>67340</c:v>
                </c:pt>
                <c:pt idx="29">
                  <c:v>55358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DE-441C-AD1E-0FD7DA136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266043632"/>
        <c:axId val="1266047472"/>
      </c:barChart>
      <c:catAx>
        <c:axId val="1266043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266047472"/>
        <c:crosses val="autoZero"/>
        <c:auto val="1"/>
        <c:lblAlgn val="ctr"/>
        <c:lblOffset val="100"/>
        <c:tickLblSkip val="1"/>
        <c:noMultiLvlLbl val="0"/>
      </c:catAx>
      <c:valAx>
        <c:axId val="1266047472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66043632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EE43-4E60-8F1B-17E2D6F80EDD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EE43-4E60-8F1B-17E2D6F80EDD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EE43-4E60-8F1B-17E2D6F80EDD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EE43-4E60-8F1B-17E2D6F80EDD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EE43-4E60-8F1B-17E2D6F80ED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настройка упаковщика 37% (401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E43-4E60-8F1B-17E2D6F80E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настройка этикетировщика 27% (291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E43-4E60-8F1B-17E2D6F80E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настройка блока розлива 13% (137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E43-4E60-8F1B-17E2D6F80E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обрыв ленты 12% (130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E43-4E60-8F1B-17E2D6F80E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запуск 11% (120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E43-4E60-8F1B-17E2D6F80ED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настройка упаковщика</c:v>
              </c:pt>
              <c:pt idx="1">
                <c:v>настройка этикетировщика</c:v>
              </c:pt>
              <c:pt idx="2">
                <c:v>настройка блока розлива</c:v>
              </c:pt>
              <c:pt idx="3">
                <c:v>обрыв ленты</c:v>
              </c:pt>
              <c:pt idx="4">
                <c:v>запуск</c:v>
              </c:pt>
            </c:strLit>
          </c:cat>
          <c:val>
            <c:numLit>
              <c:formatCode>General</c:formatCode>
              <c:ptCount val="5"/>
              <c:pt idx="0">
                <c:v>401</c:v>
              </c:pt>
              <c:pt idx="1">
                <c:v>291</c:v>
              </c:pt>
              <c:pt idx="2">
                <c:v>137</c:v>
              </c:pt>
              <c:pt idx="3">
                <c:v>130</c:v>
              </c:pt>
              <c:pt idx="4">
                <c:v>120</c:v>
              </c:pt>
            </c:numLit>
          </c:val>
          <c:extLst>
            <c:ext xmlns:c16="http://schemas.microsoft.com/office/drawing/2014/chart" uri="{C3380CC4-5D6E-409C-BE32-E72D297353CC}">
              <c16:uniqueId val="{0000000A-EE43-4E60-8F1B-17E2D6F80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74 %)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2907945048135784E-2"/>
          <c:w val="0.91574157480314966"/>
          <c:h val="0.79846449136276387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OEE_Trends_Data!$A$209:$A$238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OEE_Trends_Data!$B$209:$B$238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75.599999999999994</c:v>
                </c:pt>
                <c:pt idx="8">
                  <c:v>77.300000000000011</c:v>
                </c:pt>
                <c:pt idx="9">
                  <c:v>88.95</c:v>
                </c:pt>
                <c:pt idx="10">
                  <c:v>89.45</c:v>
                </c:pt>
                <c:pt idx="11">
                  <c:v>95.8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26.799999999999997</c:v>
                </c:pt>
                <c:pt idx="29">
                  <c:v>65.25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46-4833-A2C9-9B18CC1DEF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591944512"/>
        <c:axId val="1591945952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OEE_Trends_Data!$A$209:$A$238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OEE_Trends_Data!$C$209:$C$238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46-4833-A2C9-9B18CC1DEF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1944512"/>
        <c:axId val="1591945952"/>
      </c:lineChart>
      <c:catAx>
        <c:axId val="159194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1945952"/>
        <c:crosses val="autoZero"/>
        <c:auto val="1"/>
        <c:lblAlgn val="ctr"/>
        <c:lblOffset val="100"/>
        <c:noMultiLvlLbl val="0"/>
      </c:catAx>
      <c:valAx>
        <c:axId val="1591945952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1944512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Бутылки_Сутки_DATA!$A$95:$A$124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Бутылки_Сутки_DATA!$B$95:$B$124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68436</c:v>
                </c:pt>
                <c:pt idx="8">
                  <c:v>75890</c:v>
                </c:pt>
                <c:pt idx="9">
                  <c:v>54424</c:v>
                </c:pt>
                <c:pt idx="10">
                  <c:v>76528</c:v>
                </c:pt>
                <c:pt idx="11">
                  <c:v>17565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10235</c:v>
                </c:pt>
                <c:pt idx="29">
                  <c:v>74937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11-4905-93C6-FA67E5319191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Бутылки_Сутки_DATA!$A$95:$A$124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Бутылки_Сутки_DATA!$D$95:$D$124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88917</c:v>
                </c:pt>
                <c:pt idx="8">
                  <c:v>98451</c:v>
                </c:pt>
                <c:pt idx="9">
                  <c:v>60316</c:v>
                </c:pt>
                <c:pt idx="10">
                  <c:v>89009</c:v>
                </c:pt>
                <c:pt idx="11">
                  <c:v>18333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65333</c:v>
                </c:pt>
                <c:pt idx="29">
                  <c:v>113866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11-4905-93C6-FA67E53191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361839136"/>
        <c:axId val="1361842976"/>
      </c:barChart>
      <c:catAx>
        <c:axId val="13618391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361842976"/>
        <c:crosses val="autoZero"/>
        <c:auto val="1"/>
        <c:lblAlgn val="ctr"/>
        <c:lblOffset val="100"/>
        <c:tickLblSkip val="1"/>
        <c:noMultiLvlLbl val="0"/>
      </c:catAx>
      <c:valAx>
        <c:axId val="13618429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618391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1E1C-49F1-8721-3174F19D062C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1E1C-49F1-8721-3174F19D062C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1E1C-49F1-8721-3174F19D062C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1E1C-49F1-8721-3174F19D062C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1E1C-49F1-8721-3174F19D062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настройка укупора 41% (1901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E1C-49F1-8721-3174F19D062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настройка блока розлива 18% (837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E1C-49F1-8721-3174F19D062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нет воды 15% (697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E1C-49F1-8721-3174F19D062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настройка упаковщика 14% (659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E1C-49F1-8721-3174F19D062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настройка этикетировщика 12% (561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E1C-49F1-8721-3174F19D06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настройка укупора</c:v>
              </c:pt>
              <c:pt idx="1">
                <c:v>настройка блока розлива</c:v>
              </c:pt>
              <c:pt idx="2">
                <c:v>нет воды</c:v>
              </c:pt>
              <c:pt idx="3">
                <c:v>настройка упаковщика</c:v>
              </c:pt>
              <c:pt idx="4">
                <c:v>настройка этикетировщика</c:v>
              </c:pt>
            </c:strLit>
          </c:cat>
          <c:val>
            <c:numLit>
              <c:formatCode>General</c:formatCode>
              <c:ptCount val="5"/>
              <c:pt idx="0">
                <c:v>1901</c:v>
              </c:pt>
              <c:pt idx="1">
                <c:v>837</c:v>
              </c:pt>
              <c:pt idx="2">
                <c:v>697</c:v>
              </c:pt>
              <c:pt idx="3">
                <c:v>659</c:v>
              </c:pt>
              <c:pt idx="4">
                <c:v>561</c:v>
              </c:pt>
            </c:numLit>
          </c:val>
          <c:extLst>
            <c:ext xmlns:c16="http://schemas.microsoft.com/office/drawing/2014/chart" uri="{C3380CC4-5D6E-409C-BE32-E72D297353CC}">
              <c16:uniqueId val="{0000000A-1E1C-49F1-8721-3174F19D06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80 %)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2907945048135784E-2"/>
          <c:w val="0.91574157480314966"/>
          <c:h val="0.79846449136276387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OEE_Trends_Data!$A$277:$A$306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OEE_Trends_Data!$B$277:$B$306</c:f>
              <c:numCache>
                <c:formatCode>General</c:formatCode>
                <c:ptCount val="30"/>
                <c:pt idx="0">
                  <c:v>69.3</c:v>
                </c:pt>
                <c:pt idx="1">
                  <c:v>69.099999999999994</c:v>
                </c:pt>
                <c:pt idx="2">
                  <c:v>78</c:v>
                </c:pt>
                <c:pt idx="3">
                  <c:v>81.849999999999994</c:v>
                </c:pt>
                <c:pt idx="4">
                  <c:v>25.1</c:v>
                </c:pt>
                <c:pt idx="5">
                  <c:v>28.1</c:v>
                </c:pt>
                <c:pt idx="6">
                  <c:v>126.85</c:v>
                </c:pt>
                <c:pt idx="7">
                  <c:v>96.6</c:v>
                </c:pt>
                <c:pt idx="8">
                  <c:v>86.1</c:v>
                </c:pt>
                <c:pt idx="9">
                  <c:v>43.7</c:v>
                </c:pt>
                <c:pt idx="10">
                  <c:v>76.45</c:v>
                </c:pt>
                <c:pt idx="11">
                  <c:v>95.95</c:v>
                </c:pt>
                <c:pt idx="12">
                  <c:v>83.45</c:v>
                </c:pt>
                <c:pt idx="13">
                  <c:v>69.5</c:v>
                </c:pt>
                <c:pt idx="14">
                  <c:v>78.8</c:v>
                </c:pt>
                <c:pt idx="15">
                  <c:v>84.05</c:v>
                </c:pt>
                <c:pt idx="16">
                  <c:v>53.45</c:v>
                </c:pt>
                <c:pt idx="17">
                  <c:v>100.35</c:v>
                </c:pt>
                <c:pt idx="18">
                  <c:v>101</c:v>
                </c:pt>
                <c:pt idx="19">
                  <c:v>104.15</c:v>
                </c:pt>
                <c:pt idx="20">
                  <c:v>0</c:v>
                </c:pt>
                <c:pt idx="21">
                  <c:v>63.8</c:v>
                </c:pt>
                <c:pt idx="22">
                  <c:v>108.19999999999999</c:v>
                </c:pt>
                <c:pt idx="23">
                  <c:v>77.150000000000006</c:v>
                </c:pt>
                <c:pt idx="24">
                  <c:v>47.85</c:v>
                </c:pt>
                <c:pt idx="25">
                  <c:v>82.65</c:v>
                </c:pt>
                <c:pt idx="26">
                  <c:v>95.800000000000011</c:v>
                </c:pt>
                <c:pt idx="27">
                  <c:v>103.15</c:v>
                </c:pt>
                <c:pt idx="28">
                  <c:v>97.15</c:v>
                </c:pt>
                <c:pt idx="29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5E-49B3-962D-BADB2A7DE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570327680"/>
        <c:axId val="1570328160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OEE_Trends_Data!$A$277:$A$306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OEE_Trends_Data!$C$277:$C$306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5E-49B3-962D-BADB2A7DE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0327680"/>
        <c:axId val="1570328160"/>
      </c:lineChart>
      <c:catAx>
        <c:axId val="1570327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70328160"/>
        <c:crosses val="autoZero"/>
        <c:auto val="1"/>
        <c:lblAlgn val="ctr"/>
        <c:lblOffset val="100"/>
        <c:noMultiLvlLbl val="0"/>
      </c:catAx>
      <c:valAx>
        <c:axId val="1570328160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70327680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Бутылки_Сутки_DATA!$A$126:$A$155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Бутылки_Сутки_DATA!$B$126:$B$155</c:f>
              <c:numCache>
                <c:formatCode>General</c:formatCode>
                <c:ptCount val="30"/>
                <c:pt idx="0">
                  <c:v>29536</c:v>
                </c:pt>
                <c:pt idx="1">
                  <c:v>25706</c:v>
                </c:pt>
                <c:pt idx="2">
                  <c:v>28448</c:v>
                </c:pt>
                <c:pt idx="3">
                  <c:v>32906</c:v>
                </c:pt>
                <c:pt idx="4">
                  <c:v>11407</c:v>
                </c:pt>
                <c:pt idx="5">
                  <c:v>10215</c:v>
                </c:pt>
                <c:pt idx="6">
                  <c:v>29694</c:v>
                </c:pt>
                <c:pt idx="7">
                  <c:v>6200</c:v>
                </c:pt>
                <c:pt idx="8">
                  <c:v>24959</c:v>
                </c:pt>
                <c:pt idx="9">
                  <c:v>18596</c:v>
                </c:pt>
                <c:pt idx="10">
                  <c:v>42492</c:v>
                </c:pt>
                <c:pt idx="11">
                  <c:v>49585</c:v>
                </c:pt>
                <c:pt idx="12">
                  <c:v>41579</c:v>
                </c:pt>
                <c:pt idx="13">
                  <c:v>40617</c:v>
                </c:pt>
                <c:pt idx="14">
                  <c:v>35775</c:v>
                </c:pt>
                <c:pt idx="15">
                  <c:v>30812</c:v>
                </c:pt>
                <c:pt idx="16">
                  <c:v>20628</c:v>
                </c:pt>
                <c:pt idx="17">
                  <c:v>31307</c:v>
                </c:pt>
                <c:pt idx="18">
                  <c:v>31620</c:v>
                </c:pt>
                <c:pt idx="19">
                  <c:v>33009</c:v>
                </c:pt>
                <c:pt idx="20">
                  <c:v>0</c:v>
                </c:pt>
                <c:pt idx="21">
                  <c:v>26377</c:v>
                </c:pt>
                <c:pt idx="22">
                  <c:v>33941</c:v>
                </c:pt>
                <c:pt idx="23">
                  <c:v>25542</c:v>
                </c:pt>
                <c:pt idx="24">
                  <c:v>20335</c:v>
                </c:pt>
                <c:pt idx="25">
                  <c:v>29218</c:v>
                </c:pt>
                <c:pt idx="26">
                  <c:v>32559</c:v>
                </c:pt>
                <c:pt idx="27">
                  <c:v>35984</c:v>
                </c:pt>
                <c:pt idx="28">
                  <c:v>27916</c:v>
                </c:pt>
                <c:pt idx="29">
                  <c:v>9276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46-4E0C-B0CE-FDD308C5EEDD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Бутылки_Сутки_DATA!$A$126:$A$155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Бутылки_Сутки_DATA!$D$126:$D$155</c:f>
              <c:numCache>
                <c:formatCode>General</c:formatCode>
                <c:ptCount val="30"/>
                <c:pt idx="0">
                  <c:v>42711</c:v>
                </c:pt>
                <c:pt idx="1">
                  <c:v>37370</c:v>
                </c:pt>
                <c:pt idx="2">
                  <c:v>36888</c:v>
                </c:pt>
                <c:pt idx="3">
                  <c:v>40370</c:v>
                </c:pt>
                <c:pt idx="4">
                  <c:v>47741</c:v>
                </c:pt>
                <c:pt idx="5">
                  <c:v>36427</c:v>
                </c:pt>
                <c:pt idx="6">
                  <c:v>23943</c:v>
                </c:pt>
                <c:pt idx="7">
                  <c:v>6417</c:v>
                </c:pt>
                <c:pt idx="8">
                  <c:v>27257</c:v>
                </c:pt>
                <c:pt idx="9">
                  <c:v>40517</c:v>
                </c:pt>
                <c:pt idx="10">
                  <c:v>55627</c:v>
                </c:pt>
                <c:pt idx="11">
                  <c:v>51660</c:v>
                </c:pt>
                <c:pt idx="12">
                  <c:v>51333</c:v>
                </c:pt>
                <c:pt idx="13">
                  <c:v>58147</c:v>
                </c:pt>
                <c:pt idx="14">
                  <c:v>47739</c:v>
                </c:pt>
                <c:pt idx="15">
                  <c:v>36940</c:v>
                </c:pt>
                <c:pt idx="16">
                  <c:v>44449</c:v>
                </c:pt>
                <c:pt idx="17">
                  <c:v>31056</c:v>
                </c:pt>
                <c:pt idx="18">
                  <c:v>31312</c:v>
                </c:pt>
                <c:pt idx="19">
                  <c:v>31569</c:v>
                </c:pt>
                <c:pt idx="20">
                  <c:v>0</c:v>
                </c:pt>
                <c:pt idx="21">
                  <c:v>43157</c:v>
                </c:pt>
                <c:pt idx="22">
                  <c:v>31351</c:v>
                </c:pt>
                <c:pt idx="23">
                  <c:v>33917</c:v>
                </c:pt>
                <c:pt idx="24">
                  <c:v>44367</c:v>
                </c:pt>
                <c:pt idx="25">
                  <c:v>34760</c:v>
                </c:pt>
                <c:pt idx="26">
                  <c:v>34064</c:v>
                </c:pt>
                <c:pt idx="27">
                  <c:v>34759</c:v>
                </c:pt>
                <c:pt idx="28">
                  <c:v>28820</c:v>
                </c:pt>
                <c:pt idx="29">
                  <c:v>11037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46-4E0C-B0CE-FDD308C5E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361843456"/>
        <c:axId val="1361843936"/>
      </c:barChart>
      <c:catAx>
        <c:axId val="1361843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361843936"/>
        <c:crosses val="autoZero"/>
        <c:auto val="1"/>
        <c:lblAlgn val="ctr"/>
        <c:lblOffset val="100"/>
        <c:tickLblSkip val="1"/>
        <c:noMultiLvlLbl val="0"/>
      </c:catAx>
      <c:valAx>
        <c:axId val="136184393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6184345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3D15-4AB3-9B9E-CEBA4C7A9E06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3D15-4AB3-9B9E-CEBA4C7A9E06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3D15-4AB3-9B9E-CEBA4C7A9E06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3D15-4AB3-9B9E-CEBA4C7A9E06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3D15-4AB3-9B9E-CEBA4C7A9E0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настройка упаковщика 82% (3243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D15-4AB3-9B9E-CEBA4C7A9E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обрыв ленты 6% (241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D15-4AB3-9B9E-CEBA4C7A9E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ожидание купажа 5% (211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D15-4AB3-9B9E-CEBA4C7A9E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настройка датировщика 5% (186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D15-4AB3-9B9E-CEBA4C7A9E0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настройка блока розлива 2% (76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D15-4AB3-9B9E-CEBA4C7A9E0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настройка упаковщика</c:v>
              </c:pt>
              <c:pt idx="1">
                <c:v>обрыв ленты</c:v>
              </c:pt>
              <c:pt idx="2">
                <c:v>ожидание купажа</c:v>
              </c:pt>
              <c:pt idx="3">
                <c:v>настройка датировщика</c:v>
              </c:pt>
              <c:pt idx="4">
                <c:v>настройка блока розлива</c:v>
              </c:pt>
            </c:strLit>
          </c:cat>
          <c:val>
            <c:numLit>
              <c:formatCode>General</c:formatCode>
              <c:ptCount val="5"/>
              <c:pt idx="0">
                <c:v>3243</c:v>
              </c:pt>
              <c:pt idx="1">
                <c:v>241</c:v>
              </c:pt>
              <c:pt idx="2">
                <c:v>211</c:v>
              </c:pt>
              <c:pt idx="3">
                <c:v>186</c:v>
              </c:pt>
              <c:pt idx="4">
                <c:v>76</c:v>
              </c:pt>
            </c:numLit>
          </c:val>
          <c:extLst>
            <c:ext xmlns:c16="http://schemas.microsoft.com/office/drawing/2014/chart" uri="{C3380CC4-5D6E-409C-BE32-E72D297353CC}">
              <c16:uniqueId val="{0000000A-3D15-4AB3-9B9E-CEBA4C7A9E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54 %)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2907945048135784E-2"/>
          <c:w val="0.91574157480314966"/>
          <c:h val="0.79846449136276387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OEE_Trends_Data!$A$345:$A$374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OEE_Trends_Data!$B$345:$B$374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38.599999999999994</c:v>
                </c:pt>
                <c:pt idx="8">
                  <c:v>32.700000000000003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50.55</c:v>
                </c:pt>
                <c:pt idx="13">
                  <c:v>38.9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48.4</c:v>
                </c:pt>
                <c:pt idx="20">
                  <c:v>0</c:v>
                </c:pt>
                <c:pt idx="21">
                  <c:v>54.8</c:v>
                </c:pt>
                <c:pt idx="22">
                  <c:v>0</c:v>
                </c:pt>
                <c:pt idx="23">
                  <c:v>0</c:v>
                </c:pt>
                <c:pt idx="24">
                  <c:v>49.6</c:v>
                </c:pt>
                <c:pt idx="25">
                  <c:v>82.5</c:v>
                </c:pt>
                <c:pt idx="26">
                  <c:v>0</c:v>
                </c:pt>
                <c:pt idx="27">
                  <c:v>44.45</c:v>
                </c:pt>
                <c:pt idx="28">
                  <c:v>69.099999999999994</c:v>
                </c:pt>
                <c:pt idx="29">
                  <c:v>79.55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E2-489A-BF09-D2A2BA5B7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590257728"/>
        <c:axId val="1590256768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OEE_Trends_Data!$A$345:$A$374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OEE_Trends_Data!$C$345:$C$374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E2-489A-BF09-D2A2BA5B7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0257728"/>
        <c:axId val="1590256768"/>
      </c:lineChart>
      <c:catAx>
        <c:axId val="1590257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0256768"/>
        <c:crosses val="autoZero"/>
        <c:auto val="1"/>
        <c:lblAlgn val="ctr"/>
        <c:lblOffset val="100"/>
        <c:noMultiLvlLbl val="0"/>
      </c:catAx>
      <c:valAx>
        <c:axId val="1590256768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0257728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Бутылки_Сутки_DATA!$A$157:$A$186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Бутылки_Сутки_DATA!$B$157:$B$186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4125</c:v>
                </c:pt>
                <c:pt idx="8">
                  <c:v>915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5459</c:v>
                </c:pt>
                <c:pt idx="13">
                  <c:v>875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2425</c:v>
                </c:pt>
                <c:pt idx="20">
                  <c:v>0</c:v>
                </c:pt>
                <c:pt idx="21">
                  <c:v>5160</c:v>
                </c:pt>
                <c:pt idx="22">
                  <c:v>0</c:v>
                </c:pt>
                <c:pt idx="23">
                  <c:v>0</c:v>
                </c:pt>
                <c:pt idx="24">
                  <c:v>1450</c:v>
                </c:pt>
                <c:pt idx="25">
                  <c:v>1280</c:v>
                </c:pt>
                <c:pt idx="26">
                  <c:v>0</c:v>
                </c:pt>
                <c:pt idx="27">
                  <c:v>3737</c:v>
                </c:pt>
                <c:pt idx="28">
                  <c:v>4402</c:v>
                </c:pt>
                <c:pt idx="29">
                  <c:v>6740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E7-4DB7-B223-FDA5B9BB900B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Бутылки_Сутки_DATA!$A$157:$A$186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Бутылки_Сутки_DATA!$D$157:$D$186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11080</c:v>
                </c:pt>
                <c:pt idx="8">
                  <c:v>2800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10800</c:v>
                </c:pt>
                <c:pt idx="13">
                  <c:v>2250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5015</c:v>
                </c:pt>
                <c:pt idx="20">
                  <c:v>0</c:v>
                </c:pt>
                <c:pt idx="21">
                  <c:v>9345</c:v>
                </c:pt>
                <c:pt idx="22">
                  <c:v>0</c:v>
                </c:pt>
                <c:pt idx="23">
                  <c:v>0</c:v>
                </c:pt>
                <c:pt idx="24">
                  <c:v>2925</c:v>
                </c:pt>
                <c:pt idx="25">
                  <c:v>2925</c:v>
                </c:pt>
                <c:pt idx="26">
                  <c:v>0</c:v>
                </c:pt>
                <c:pt idx="27">
                  <c:v>8152</c:v>
                </c:pt>
                <c:pt idx="28">
                  <c:v>6600</c:v>
                </c:pt>
                <c:pt idx="29">
                  <c:v>10477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E7-4DB7-B223-FDA5B9BB90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361844416"/>
        <c:axId val="1361845376"/>
      </c:barChart>
      <c:catAx>
        <c:axId val="13618444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361845376"/>
        <c:crosses val="autoZero"/>
        <c:auto val="1"/>
        <c:lblAlgn val="ctr"/>
        <c:lblOffset val="100"/>
        <c:tickLblSkip val="1"/>
        <c:noMultiLvlLbl val="0"/>
      </c:catAx>
      <c:valAx>
        <c:axId val="13618453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6184441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87C9-4DFC-89CB-9A4BB185E56B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87C9-4DFC-89CB-9A4BB185E56B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87C9-4DFC-89CB-9A4BB185E56B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87C9-4DFC-89CB-9A4BB185E56B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87C9-4DFC-89CB-9A4BB185E56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ожидание купажа 58% (1574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7C9-4DFC-89CB-9A4BB185E56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нет воды 17% (450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7C9-4DFC-89CB-9A4BB185E56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персонал 14% (390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7C9-4DFC-89CB-9A4BB185E56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настройка укупора 6% (175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7C9-4DFC-89CB-9A4BB185E56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настройка блока розлива 4% (120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7C9-4DFC-89CB-9A4BB185E56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ожидание купажа</c:v>
              </c:pt>
              <c:pt idx="1">
                <c:v>нет воды</c:v>
              </c:pt>
              <c:pt idx="2">
                <c:v>персонал</c:v>
              </c:pt>
              <c:pt idx="3">
                <c:v>настройка укупора</c:v>
              </c:pt>
              <c:pt idx="4">
                <c:v>настройка блока розлива</c:v>
              </c:pt>
            </c:strLit>
          </c:cat>
          <c:val>
            <c:numLit>
              <c:formatCode>General</c:formatCode>
              <c:ptCount val="5"/>
              <c:pt idx="0">
                <c:v>1574</c:v>
              </c:pt>
              <c:pt idx="1">
                <c:v>450</c:v>
              </c:pt>
              <c:pt idx="2">
                <c:v>390</c:v>
              </c:pt>
              <c:pt idx="3">
                <c:v>175</c:v>
              </c:pt>
              <c:pt idx="4">
                <c:v>120</c:v>
              </c:pt>
            </c:numLit>
          </c:val>
          <c:extLst>
            <c:ext xmlns:c16="http://schemas.microsoft.com/office/drawing/2014/chart" uri="{C3380CC4-5D6E-409C-BE32-E72D297353CC}">
              <c16:uniqueId val="{0000000A-87C9-4DFC-89CB-9A4BB185E5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91 %)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2907945048135784E-2"/>
          <c:w val="0.91574157480314966"/>
          <c:h val="0.79846449136276387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OEE_Trends_Data!$A$413:$A$442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OEE_Trends_Data!$B$413:$B$442</c:f>
              <c:numCache>
                <c:formatCode>General</c:formatCode>
                <c:ptCount val="30"/>
                <c:pt idx="0">
                  <c:v>93.699999999999989</c:v>
                </c:pt>
                <c:pt idx="1">
                  <c:v>82.1</c:v>
                </c:pt>
                <c:pt idx="2">
                  <c:v>104.4</c:v>
                </c:pt>
                <c:pt idx="3">
                  <c:v>86.95</c:v>
                </c:pt>
                <c:pt idx="4">
                  <c:v>76.599999999999994</c:v>
                </c:pt>
                <c:pt idx="5">
                  <c:v>66.349999999999994</c:v>
                </c:pt>
                <c:pt idx="6">
                  <c:v>68.2</c:v>
                </c:pt>
                <c:pt idx="7">
                  <c:v>99.4</c:v>
                </c:pt>
                <c:pt idx="8">
                  <c:v>87.050000000000011</c:v>
                </c:pt>
                <c:pt idx="9">
                  <c:v>70.900000000000006</c:v>
                </c:pt>
                <c:pt idx="10">
                  <c:v>99.65</c:v>
                </c:pt>
                <c:pt idx="11">
                  <c:v>104.4</c:v>
                </c:pt>
                <c:pt idx="12">
                  <c:v>90.5</c:v>
                </c:pt>
                <c:pt idx="13">
                  <c:v>49.8</c:v>
                </c:pt>
                <c:pt idx="14">
                  <c:v>107.2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66.199999999999989</c:v>
                </c:pt>
                <c:pt idx="22">
                  <c:v>138.19999999999999</c:v>
                </c:pt>
                <c:pt idx="23">
                  <c:v>148.1</c:v>
                </c:pt>
                <c:pt idx="24">
                  <c:v>71.400000000000006</c:v>
                </c:pt>
                <c:pt idx="25">
                  <c:v>78.150000000000006</c:v>
                </c:pt>
                <c:pt idx="26">
                  <c:v>72.099999999999994</c:v>
                </c:pt>
                <c:pt idx="27">
                  <c:v>145.64999999999998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86-4475-8C2F-0A3083D06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260048512"/>
        <c:axId val="1260048992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OEE_Trends_Data!$A$413:$A$442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OEE_Trends_Data!$C$413:$C$442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86-4475-8C2F-0A3083D06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0048512"/>
        <c:axId val="1260048992"/>
      </c:lineChart>
      <c:catAx>
        <c:axId val="1260048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260048992"/>
        <c:crosses val="autoZero"/>
        <c:auto val="1"/>
        <c:lblAlgn val="ctr"/>
        <c:lblOffset val="100"/>
        <c:noMultiLvlLbl val="0"/>
      </c:catAx>
      <c:valAx>
        <c:axId val="1260048992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260048512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Бутылки_Сутки_DATA!$A$188:$A$217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Бутылки_Сутки_DATA!$B$188:$B$217</c:f>
              <c:numCache>
                <c:formatCode>General</c:formatCode>
                <c:ptCount val="30"/>
                <c:pt idx="0">
                  <c:v>3708</c:v>
                </c:pt>
                <c:pt idx="1">
                  <c:v>2548</c:v>
                </c:pt>
                <c:pt idx="2">
                  <c:v>3539</c:v>
                </c:pt>
                <c:pt idx="3">
                  <c:v>3253</c:v>
                </c:pt>
                <c:pt idx="4">
                  <c:v>2942</c:v>
                </c:pt>
                <c:pt idx="5">
                  <c:v>1723</c:v>
                </c:pt>
                <c:pt idx="6">
                  <c:v>2152</c:v>
                </c:pt>
                <c:pt idx="7">
                  <c:v>2665</c:v>
                </c:pt>
                <c:pt idx="8">
                  <c:v>3543</c:v>
                </c:pt>
                <c:pt idx="9">
                  <c:v>2798</c:v>
                </c:pt>
                <c:pt idx="10">
                  <c:v>3330</c:v>
                </c:pt>
                <c:pt idx="11">
                  <c:v>4319</c:v>
                </c:pt>
                <c:pt idx="12">
                  <c:v>3162</c:v>
                </c:pt>
                <c:pt idx="13">
                  <c:v>1547</c:v>
                </c:pt>
                <c:pt idx="14">
                  <c:v>429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2867</c:v>
                </c:pt>
                <c:pt idx="22">
                  <c:v>4339</c:v>
                </c:pt>
                <c:pt idx="23">
                  <c:v>1998</c:v>
                </c:pt>
                <c:pt idx="24">
                  <c:v>3180</c:v>
                </c:pt>
                <c:pt idx="25">
                  <c:v>2862</c:v>
                </c:pt>
                <c:pt idx="26">
                  <c:v>2970</c:v>
                </c:pt>
                <c:pt idx="27">
                  <c:v>2048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70-48B6-9925-1B291C13316B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Бутылки_Сутки_DATA!$A$188:$A$217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Бутылки_Сутки_DATA!$D$188:$D$217</c:f>
              <c:numCache>
                <c:formatCode>General</c:formatCode>
                <c:ptCount val="30"/>
                <c:pt idx="0">
                  <c:v>4000</c:v>
                </c:pt>
                <c:pt idx="1">
                  <c:v>3136</c:v>
                </c:pt>
                <c:pt idx="2">
                  <c:v>3407</c:v>
                </c:pt>
                <c:pt idx="3">
                  <c:v>3750</c:v>
                </c:pt>
                <c:pt idx="4">
                  <c:v>3867</c:v>
                </c:pt>
                <c:pt idx="5">
                  <c:v>3500</c:v>
                </c:pt>
                <c:pt idx="6">
                  <c:v>2883</c:v>
                </c:pt>
                <c:pt idx="7">
                  <c:v>2688</c:v>
                </c:pt>
                <c:pt idx="8">
                  <c:v>4100</c:v>
                </c:pt>
                <c:pt idx="9">
                  <c:v>4000</c:v>
                </c:pt>
                <c:pt idx="10">
                  <c:v>3342</c:v>
                </c:pt>
                <c:pt idx="11">
                  <c:v>4117</c:v>
                </c:pt>
                <c:pt idx="12">
                  <c:v>3467</c:v>
                </c:pt>
                <c:pt idx="13">
                  <c:v>4000</c:v>
                </c:pt>
                <c:pt idx="14">
                  <c:v>400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4400</c:v>
                </c:pt>
                <c:pt idx="22">
                  <c:v>3267</c:v>
                </c:pt>
                <c:pt idx="23">
                  <c:v>1350</c:v>
                </c:pt>
                <c:pt idx="24">
                  <c:v>4470</c:v>
                </c:pt>
                <c:pt idx="25">
                  <c:v>3767</c:v>
                </c:pt>
                <c:pt idx="26">
                  <c:v>4083</c:v>
                </c:pt>
                <c:pt idx="27">
                  <c:v>1400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70-48B6-9925-1B291C133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361830976"/>
        <c:axId val="1361831456"/>
      </c:barChart>
      <c:catAx>
        <c:axId val="1361830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361831456"/>
        <c:crosses val="autoZero"/>
        <c:auto val="1"/>
        <c:lblAlgn val="ctr"/>
        <c:lblOffset val="100"/>
        <c:tickLblSkip val="1"/>
        <c:noMultiLvlLbl val="0"/>
      </c:catAx>
      <c:valAx>
        <c:axId val="136183145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6183097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0100-44E3-A513-BB217460DAA2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0100-44E3-A513-BB217460DAA2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0100-44E3-A513-BB217460DAA2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0100-44E3-A513-BB217460DAA2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0100-44E3-A513-BB217460DAA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настройка блока розлива 80% (1207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100-44E3-A513-BB217460DAA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мойка 8% (120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100-44E3-A513-BB217460DAA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ожидание купажа 7% (101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100-44E3-A513-BB217460DAA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ошибка чиллера 4% (53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100-44E3-A513-BB217460DAA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стерилизтор 2% (30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100-44E3-A513-BB217460DAA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настройка блока розлива</c:v>
              </c:pt>
              <c:pt idx="1">
                <c:v>мойка</c:v>
              </c:pt>
              <c:pt idx="2">
                <c:v>ожидание купажа</c:v>
              </c:pt>
              <c:pt idx="3">
                <c:v>ошибка чиллера</c:v>
              </c:pt>
              <c:pt idx="4">
                <c:v>стерилизтор</c:v>
              </c:pt>
            </c:strLit>
          </c:cat>
          <c:val>
            <c:numLit>
              <c:formatCode>General</c:formatCode>
              <c:ptCount val="5"/>
              <c:pt idx="0">
                <c:v>1207</c:v>
              </c:pt>
              <c:pt idx="1">
                <c:v>120</c:v>
              </c:pt>
              <c:pt idx="2">
                <c:v>101</c:v>
              </c:pt>
              <c:pt idx="3">
                <c:v>53</c:v>
              </c:pt>
              <c:pt idx="4">
                <c:v>30</c:v>
              </c:pt>
            </c:numLit>
          </c:val>
          <c:extLst>
            <c:ext xmlns:c16="http://schemas.microsoft.com/office/drawing/2014/chart" uri="{C3380CC4-5D6E-409C-BE32-E72D297353CC}">
              <c16:uniqueId val="{0000000A-0100-44E3-A513-BB217460D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94 %)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3003534531281203E-2"/>
          <c:w val="0.91574157480314966"/>
          <c:h val="0.79938508839354339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OEE_Trends_Data!$A$481:$A$510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OEE_Trends_Data!$B$481:$B$510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109.35</c:v>
                </c:pt>
                <c:pt idx="10">
                  <c:v>100.9</c:v>
                </c:pt>
                <c:pt idx="11">
                  <c:v>111.44999999999999</c:v>
                </c:pt>
                <c:pt idx="12">
                  <c:v>105.1</c:v>
                </c:pt>
                <c:pt idx="13">
                  <c:v>104.80000000000001</c:v>
                </c:pt>
                <c:pt idx="14">
                  <c:v>102.05</c:v>
                </c:pt>
                <c:pt idx="15">
                  <c:v>100.8</c:v>
                </c:pt>
                <c:pt idx="16">
                  <c:v>108.7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63.4</c:v>
                </c:pt>
                <c:pt idx="25">
                  <c:v>16.700000000000003</c:v>
                </c:pt>
                <c:pt idx="26">
                  <c:v>86.35</c:v>
                </c:pt>
                <c:pt idx="27">
                  <c:v>109.25</c:v>
                </c:pt>
                <c:pt idx="28">
                  <c:v>102.25</c:v>
                </c:pt>
                <c:pt idx="29">
                  <c:v>88.4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B9-4DF6-9B08-7665262954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590736160"/>
        <c:axId val="1590737600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OEE_Trends_Data!$A$481:$A$510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OEE_Trends_Data!$C$481:$C$510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B9-4DF6-9B08-7665262954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0736160"/>
        <c:axId val="1590737600"/>
      </c:lineChart>
      <c:catAx>
        <c:axId val="1590736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0737600"/>
        <c:crosses val="autoZero"/>
        <c:auto val="1"/>
        <c:lblAlgn val="ctr"/>
        <c:lblOffset val="100"/>
        <c:noMultiLvlLbl val="0"/>
      </c:catAx>
      <c:valAx>
        <c:axId val="1590737600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0736160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Бутылки_Сутки_DATA!$A$219:$A$248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Бутылки_Сутки_DATA!$B$219:$B$248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3561</c:v>
                </c:pt>
                <c:pt idx="10">
                  <c:v>5089</c:v>
                </c:pt>
                <c:pt idx="11">
                  <c:v>5348</c:v>
                </c:pt>
                <c:pt idx="12">
                  <c:v>3308</c:v>
                </c:pt>
                <c:pt idx="13">
                  <c:v>5264</c:v>
                </c:pt>
                <c:pt idx="14">
                  <c:v>4793</c:v>
                </c:pt>
                <c:pt idx="15">
                  <c:v>4638</c:v>
                </c:pt>
                <c:pt idx="16">
                  <c:v>1087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1474</c:v>
                </c:pt>
                <c:pt idx="25">
                  <c:v>653</c:v>
                </c:pt>
                <c:pt idx="26">
                  <c:v>3539</c:v>
                </c:pt>
                <c:pt idx="27">
                  <c:v>5134</c:v>
                </c:pt>
                <c:pt idx="28">
                  <c:v>4908</c:v>
                </c:pt>
                <c:pt idx="29">
                  <c:v>3508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F9-42F0-943D-9BD258ECF6BF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Бутылки_Сутки_DATA!$A$219:$A$248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Бутылки_Сутки_DATA!$D$219:$D$248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3200</c:v>
                </c:pt>
                <c:pt idx="10">
                  <c:v>5040</c:v>
                </c:pt>
                <c:pt idx="11">
                  <c:v>4800</c:v>
                </c:pt>
                <c:pt idx="12">
                  <c:v>3133</c:v>
                </c:pt>
                <c:pt idx="13">
                  <c:v>5040</c:v>
                </c:pt>
                <c:pt idx="14">
                  <c:v>4700</c:v>
                </c:pt>
                <c:pt idx="15">
                  <c:v>4600</c:v>
                </c:pt>
                <c:pt idx="16">
                  <c:v>1000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2323</c:v>
                </c:pt>
                <c:pt idx="25">
                  <c:v>3977</c:v>
                </c:pt>
                <c:pt idx="26">
                  <c:v>3897</c:v>
                </c:pt>
                <c:pt idx="27">
                  <c:v>4700</c:v>
                </c:pt>
                <c:pt idx="28">
                  <c:v>4800</c:v>
                </c:pt>
                <c:pt idx="29">
                  <c:v>3933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F9-42F0-943D-9BD258ECF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361841536"/>
        <c:axId val="1361842016"/>
      </c:barChart>
      <c:catAx>
        <c:axId val="1361841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361842016"/>
        <c:crosses val="autoZero"/>
        <c:auto val="1"/>
        <c:lblAlgn val="ctr"/>
        <c:lblOffset val="100"/>
        <c:tickLblSkip val="1"/>
        <c:noMultiLvlLbl val="0"/>
      </c:catAx>
      <c:valAx>
        <c:axId val="136184201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618415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23D1-4A1E-AA1E-35AB001FC777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23D1-4A1E-AA1E-35AB001FC777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23D1-4A1E-AA1E-35AB001FC777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23D1-4A1E-AA1E-35AB001FC777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23D1-4A1E-AA1E-35AB001FC77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набор танка 29% (623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D1-4A1E-AA1E-35AB001FC77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вышел из строя редуктор 22% (479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D1-4A1E-AA1E-35AB001FC77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вода 19% (420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D1-4A1E-AA1E-35AB001FC77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дробилка 16% (347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D1-4A1E-AA1E-35AB001FC77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шпаритель 13% (287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D1-4A1E-AA1E-35AB001FC77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набор танка</c:v>
              </c:pt>
              <c:pt idx="1">
                <c:v>вышел из строя редуктор</c:v>
              </c:pt>
              <c:pt idx="2">
                <c:v>вода</c:v>
              </c:pt>
              <c:pt idx="3">
                <c:v>дробилка</c:v>
              </c:pt>
              <c:pt idx="4">
                <c:v>шпаритель</c:v>
              </c:pt>
            </c:strLit>
          </c:cat>
          <c:val>
            <c:numLit>
              <c:formatCode>General</c:formatCode>
              <c:ptCount val="5"/>
              <c:pt idx="0">
                <c:v>623</c:v>
              </c:pt>
              <c:pt idx="1">
                <c:v>479</c:v>
              </c:pt>
              <c:pt idx="2">
                <c:v>420</c:v>
              </c:pt>
              <c:pt idx="3">
                <c:v>347</c:v>
              </c:pt>
              <c:pt idx="4">
                <c:v>287</c:v>
              </c:pt>
            </c:numLit>
          </c:val>
          <c:extLst>
            <c:ext xmlns:c16="http://schemas.microsoft.com/office/drawing/2014/chart" uri="{C3380CC4-5D6E-409C-BE32-E72D297353CC}">
              <c16:uniqueId val="{0000000A-23D1-4A1E-AA1E-35AB001FC7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82 %)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3003534531281203E-2"/>
          <c:w val="0.91574157480314966"/>
          <c:h val="0.79938508839354339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OEE_Trends_Data!$A$549:$A$578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OEE_Trends_Data!$B$549:$B$578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82.2</c:v>
                </c:pt>
                <c:pt idx="5">
                  <c:v>0</c:v>
                </c:pt>
                <c:pt idx="6">
                  <c:v>0</c:v>
                </c:pt>
                <c:pt idx="7">
                  <c:v>94.25</c:v>
                </c:pt>
                <c:pt idx="8">
                  <c:v>0</c:v>
                </c:pt>
                <c:pt idx="9">
                  <c:v>73.3</c:v>
                </c:pt>
                <c:pt idx="10">
                  <c:v>87.5</c:v>
                </c:pt>
                <c:pt idx="11">
                  <c:v>98.85</c:v>
                </c:pt>
                <c:pt idx="12">
                  <c:v>90</c:v>
                </c:pt>
                <c:pt idx="13">
                  <c:v>51.7</c:v>
                </c:pt>
                <c:pt idx="14">
                  <c:v>87.85</c:v>
                </c:pt>
                <c:pt idx="15">
                  <c:v>105</c:v>
                </c:pt>
                <c:pt idx="16">
                  <c:v>61.35</c:v>
                </c:pt>
                <c:pt idx="17">
                  <c:v>75.849999999999994</c:v>
                </c:pt>
                <c:pt idx="18">
                  <c:v>86.05</c:v>
                </c:pt>
                <c:pt idx="19">
                  <c:v>74.150000000000006</c:v>
                </c:pt>
                <c:pt idx="20">
                  <c:v>73.3</c:v>
                </c:pt>
                <c:pt idx="21">
                  <c:v>94.25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14-47FF-9BBC-2AC223C1D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590738080"/>
        <c:axId val="1590732320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OEE_Trends_Data!$A$549:$A$578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OEE_Trends_Data!$C$549:$C$578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14-47FF-9BBC-2AC223C1D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0738080"/>
        <c:axId val="1590732320"/>
      </c:lineChart>
      <c:catAx>
        <c:axId val="15907380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0732320"/>
        <c:crosses val="autoZero"/>
        <c:auto val="1"/>
        <c:lblAlgn val="ctr"/>
        <c:lblOffset val="100"/>
        <c:noMultiLvlLbl val="0"/>
      </c:catAx>
      <c:valAx>
        <c:axId val="1590732320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0738080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Бутылки_Сутки_DATA!$A$250:$A$279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Бутылки_Сутки_DATA!$B$250:$B$279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74</c:v>
                </c:pt>
                <c:pt idx="5">
                  <c:v>0</c:v>
                </c:pt>
                <c:pt idx="6">
                  <c:v>0</c:v>
                </c:pt>
                <c:pt idx="7">
                  <c:v>155</c:v>
                </c:pt>
                <c:pt idx="8">
                  <c:v>0</c:v>
                </c:pt>
                <c:pt idx="9">
                  <c:v>44</c:v>
                </c:pt>
                <c:pt idx="10">
                  <c:v>252</c:v>
                </c:pt>
                <c:pt idx="11">
                  <c:v>175</c:v>
                </c:pt>
                <c:pt idx="12">
                  <c:v>54</c:v>
                </c:pt>
                <c:pt idx="13">
                  <c:v>186</c:v>
                </c:pt>
                <c:pt idx="14">
                  <c:v>253</c:v>
                </c:pt>
                <c:pt idx="15">
                  <c:v>129</c:v>
                </c:pt>
                <c:pt idx="16">
                  <c:v>221</c:v>
                </c:pt>
                <c:pt idx="17">
                  <c:v>273</c:v>
                </c:pt>
                <c:pt idx="18">
                  <c:v>170</c:v>
                </c:pt>
                <c:pt idx="19">
                  <c:v>267</c:v>
                </c:pt>
                <c:pt idx="20">
                  <c:v>66</c:v>
                </c:pt>
                <c:pt idx="21">
                  <c:v>97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7E-4809-9168-8A85F549BD92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Бутылки_Сутки_DATA!$A$250:$A$279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Бутылки_Сутки_DATA!$D$250:$D$279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270</c:v>
                </c:pt>
                <c:pt idx="5">
                  <c:v>0</c:v>
                </c:pt>
                <c:pt idx="6">
                  <c:v>0</c:v>
                </c:pt>
                <c:pt idx="7">
                  <c:v>163</c:v>
                </c:pt>
                <c:pt idx="8">
                  <c:v>0</c:v>
                </c:pt>
                <c:pt idx="9">
                  <c:v>60</c:v>
                </c:pt>
                <c:pt idx="10">
                  <c:v>288</c:v>
                </c:pt>
                <c:pt idx="11">
                  <c:v>176</c:v>
                </c:pt>
                <c:pt idx="12">
                  <c:v>60</c:v>
                </c:pt>
                <c:pt idx="13">
                  <c:v>360</c:v>
                </c:pt>
                <c:pt idx="14">
                  <c:v>288</c:v>
                </c:pt>
                <c:pt idx="15">
                  <c:v>125</c:v>
                </c:pt>
                <c:pt idx="16">
                  <c:v>360</c:v>
                </c:pt>
                <c:pt idx="17">
                  <c:v>360</c:v>
                </c:pt>
                <c:pt idx="18">
                  <c:v>211</c:v>
                </c:pt>
                <c:pt idx="19">
                  <c:v>360</c:v>
                </c:pt>
                <c:pt idx="20">
                  <c:v>90</c:v>
                </c:pt>
                <c:pt idx="21">
                  <c:v>106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7E-4809-9168-8A85F549B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361833856"/>
        <c:axId val="1361834336"/>
      </c:barChart>
      <c:catAx>
        <c:axId val="1361833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361834336"/>
        <c:crosses val="autoZero"/>
        <c:auto val="1"/>
        <c:lblAlgn val="ctr"/>
        <c:lblOffset val="100"/>
        <c:tickLblSkip val="1"/>
        <c:noMultiLvlLbl val="0"/>
      </c:catAx>
      <c:valAx>
        <c:axId val="136183433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6183385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20036913385826771"/>
          <c:y val="0.15013438006625304"/>
          <c:w val="0.61526171289062503"/>
          <c:h val="0.76027959866284855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5B9BD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1-0142-4D1E-B422-13F212367485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0142-4D1E-B422-13F212367485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5-0142-4D1E-B422-13F212367485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7-0142-4D1E-B422-13F212367485}"/>
              </c:ext>
            </c:extLst>
          </c:dPt>
          <c:dPt>
            <c:idx val="4"/>
            <c:bubble3D val="0"/>
            <c:spPr>
              <a:solidFill>
                <a:srgbClr val="4472C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9-0142-4D1E-B422-13F21236748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ru-RU"/>
                      <a:t>настройка блока розлива 31% (438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142-4D1E-B422-13F21236748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/>
                      <a:t>настройка этикетировщика 31% (432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142-4D1E-B422-13F21236748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/>
                      <a:t>включения в продукте 26% (359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142-4D1E-B422-13F21236748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/>
                      <a:t>ожидание купажа 7% (102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142-4D1E-B422-13F21236748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/>
                      <a:t>не работает насос на варке 5% (75 мин)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142-4D1E-B422-13F21236748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Overflow="overflow" horzOverflow="overflow" wrap="none" lIns="25400" tIns="12700" rIns="25400" bIns="12700" anchor="ctr" anchorCtr="0">
                <a:spAutoFit/>
              </a:bodyPr>
              <a:lstStyle/>
              <a:p>
                <a:pPr algn="ctr">
                  <a:defRPr sz="1100" b="1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5"/>
              <c:pt idx="0">
                <c:v>настройка блока розлива</c:v>
              </c:pt>
              <c:pt idx="1">
                <c:v>настройка этикетировщика</c:v>
              </c:pt>
              <c:pt idx="2">
                <c:v>включения в продукте</c:v>
              </c:pt>
              <c:pt idx="3">
                <c:v>ожидание купажа</c:v>
              </c:pt>
              <c:pt idx="4">
                <c:v>не работает насос на варке</c:v>
              </c:pt>
            </c:strLit>
          </c:cat>
          <c:val>
            <c:numLit>
              <c:formatCode>General</c:formatCode>
              <c:ptCount val="5"/>
              <c:pt idx="0">
                <c:v>438</c:v>
              </c:pt>
              <c:pt idx="1">
                <c:v>432</c:v>
              </c:pt>
              <c:pt idx="2">
                <c:v>359</c:v>
              </c:pt>
              <c:pt idx="3">
                <c:v>102</c:v>
              </c:pt>
              <c:pt idx="4">
                <c:v>75</c:v>
              </c:pt>
            </c:numLit>
          </c:val>
          <c:extLst>
            <c:ext xmlns:c16="http://schemas.microsoft.com/office/drawing/2014/chart" uri="{C3380CC4-5D6E-409C-BE32-E72D297353CC}">
              <c16:uniqueId val="{0000000A-0142-4D1E-B422-13F212367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ru-RU" sz="1200" b="1"/>
              <a:t>Общая Эффективность Оборудования, % (MTD: 89 %)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258425196850399E-2"/>
          <c:y val="8.2907945048135784E-2"/>
          <c:w val="0.91574157480314966"/>
          <c:h val="0.79846449136276387"/>
        </c:manualLayout>
      </c:layout>
      <c:barChart>
        <c:barDir val="col"/>
        <c:grouping val="clustered"/>
        <c:varyColors val="0"/>
        <c:ser>
          <c:idx val="1"/>
          <c:order val="1"/>
          <c:tx>
            <c:v>OEE</c:v>
          </c:tx>
          <c:spPr>
            <a:solidFill>
              <a:srgbClr val="32A0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OEE_Trends_Data!$A$617:$A$646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OEE_Trends_Data!$B$617:$B$646</c:f>
              <c:numCache>
                <c:formatCode>General</c:formatCode>
                <c:ptCount val="30"/>
                <c:pt idx="0">
                  <c:v>94.4</c:v>
                </c:pt>
                <c:pt idx="1">
                  <c:v>110.75</c:v>
                </c:pt>
                <c:pt idx="2">
                  <c:v>86.85</c:v>
                </c:pt>
                <c:pt idx="3">
                  <c:v>88.35</c:v>
                </c:pt>
                <c:pt idx="4">
                  <c:v>90.6</c:v>
                </c:pt>
                <c:pt idx="5">
                  <c:v>54.2</c:v>
                </c:pt>
                <c:pt idx="6">
                  <c:v>79.550000000000011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109.75</c:v>
                </c:pt>
                <c:pt idx="16">
                  <c:v>99.2</c:v>
                </c:pt>
                <c:pt idx="17">
                  <c:v>89.8</c:v>
                </c:pt>
                <c:pt idx="18">
                  <c:v>94.15</c:v>
                </c:pt>
                <c:pt idx="19">
                  <c:v>0</c:v>
                </c:pt>
                <c:pt idx="20">
                  <c:v>85.2</c:v>
                </c:pt>
                <c:pt idx="21">
                  <c:v>84.5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FA-4CB0-9222-CBDD2669BB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593804528"/>
        <c:axId val="1593801648"/>
      </c:barChart>
      <c:lineChart>
        <c:grouping val="standard"/>
        <c:varyColors val="0"/>
        <c:ser>
          <c:idx val="0"/>
          <c:order val="0"/>
          <c:tx>
            <c:v>Цель</c:v>
          </c:tx>
          <c:spPr>
            <a:ln w="34925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numRef>
              <c:f>OEE_Trends_Data!$A$617:$A$646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OEE_Trends_Data!$C$617:$C$646</c:f>
              <c:numCache>
                <c:formatCode>General</c:formatCode>
                <c:ptCount val="3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FA-4CB0-9222-CBDD2669BB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3804528"/>
        <c:axId val="1593801648"/>
      </c:lineChart>
      <c:catAx>
        <c:axId val="15938045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3801648"/>
        <c:crosses val="autoZero"/>
        <c:auto val="1"/>
        <c:lblAlgn val="ctr"/>
        <c:lblOffset val="100"/>
        <c:noMultiLvlLbl val="0"/>
      </c:catAx>
      <c:valAx>
        <c:axId val="1593801648"/>
        <c:scaling>
          <c:orientation val="minMax"/>
          <c:max val="130"/>
          <c:min val="0"/>
        </c:scaling>
        <c:delete val="0"/>
        <c:axPos val="l"/>
        <c:majorGridlines/>
        <c:numFmt formatCode="0\ \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ru-RU"/>
          </a:p>
        </c:txPr>
        <c:crossAx val="1593804528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 sz="1600" b="1"/>
            </a:pPr>
            <a:r>
              <a:rPr lang="ru-RU" sz="1600" b="1"/>
              <a:t>Выполнение плана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Факт, шт</c:v>
          </c:tx>
          <c:spPr>
            <a:solidFill>
              <a:srgbClr val="4F81B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Бутылки_Сутки_DATA!$A$281:$A$310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Бутылки_Сутки_DATA!$B$281:$B$310</c:f>
              <c:numCache>
                <c:formatCode>General</c:formatCode>
                <c:ptCount val="30"/>
                <c:pt idx="0">
                  <c:v>10110</c:v>
                </c:pt>
                <c:pt idx="1">
                  <c:v>11964</c:v>
                </c:pt>
                <c:pt idx="2">
                  <c:v>8623</c:v>
                </c:pt>
                <c:pt idx="3">
                  <c:v>8103</c:v>
                </c:pt>
                <c:pt idx="4">
                  <c:v>6120</c:v>
                </c:pt>
                <c:pt idx="5">
                  <c:v>5034</c:v>
                </c:pt>
                <c:pt idx="6">
                  <c:v>9148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13212</c:v>
                </c:pt>
                <c:pt idx="16">
                  <c:v>9648</c:v>
                </c:pt>
                <c:pt idx="17">
                  <c:v>10097</c:v>
                </c:pt>
                <c:pt idx="18">
                  <c:v>11161</c:v>
                </c:pt>
                <c:pt idx="19">
                  <c:v>0</c:v>
                </c:pt>
                <c:pt idx="20">
                  <c:v>4560</c:v>
                </c:pt>
                <c:pt idx="21">
                  <c:v>4818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4680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43-4F93-9112-1841F6B1640F}"/>
            </c:ext>
          </c:extLst>
        </c:ser>
        <c:ser>
          <c:idx val="1"/>
          <c:order val="1"/>
          <c:tx>
            <c:v>План, шт</c:v>
          </c:tx>
          <c:spPr>
            <a:noFill/>
            <a:ln w="22225">
              <a:solidFill>
                <a:srgbClr val="FF0000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D7D31"/>
                  </a:solidFill>
                </a14:hiddenFill>
              </a:ext>
            </a:extLst>
          </c:spPr>
          <c:invertIfNegative val="0"/>
          <c:cat>
            <c:numRef>
              <c:f>Бутылки_Сутки_DATA!$A$281:$A$310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Бутылки_Сутки_DATA!$D$281:$D$310</c:f>
              <c:numCache>
                <c:formatCode>General</c:formatCode>
                <c:ptCount val="30"/>
                <c:pt idx="0">
                  <c:v>10725</c:v>
                </c:pt>
                <c:pt idx="1">
                  <c:v>10800</c:v>
                </c:pt>
                <c:pt idx="2">
                  <c:v>9916</c:v>
                </c:pt>
                <c:pt idx="3">
                  <c:v>9321</c:v>
                </c:pt>
                <c:pt idx="4">
                  <c:v>7050</c:v>
                </c:pt>
                <c:pt idx="5">
                  <c:v>9105</c:v>
                </c:pt>
                <c:pt idx="6">
                  <c:v>11550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12054</c:v>
                </c:pt>
                <c:pt idx="16">
                  <c:v>9600</c:v>
                </c:pt>
                <c:pt idx="17">
                  <c:v>11070</c:v>
                </c:pt>
                <c:pt idx="18">
                  <c:v>11860</c:v>
                </c:pt>
                <c:pt idx="19">
                  <c:v>0</c:v>
                </c:pt>
                <c:pt idx="20">
                  <c:v>5350</c:v>
                </c:pt>
                <c:pt idx="21">
                  <c:v>5700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5600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43-4F93-9112-1841F6B16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361836256"/>
        <c:axId val="1361836736"/>
      </c:barChart>
      <c:catAx>
        <c:axId val="1361836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ru-RU"/>
          </a:p>
        </c:txPr>
        <c:crossAx val="1361836736"/>
        <c:crosses val="autoZero"/>
        <c:auto val="1"/>
        <c:lblAlgn val="ctr"/>
        <c:lblOffset val="100"/>
        <c:tickLblSkip val="1"/>
        <c:noMultiLvlLbl val="0"/>
      </c:catAx>
      <c:valAx>
        <c:axId val="136183673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6183625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 b="0"/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3BB46-BB11-ACC2-17B9-D96643E3B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53BA42-EAF6-2C5B-3098-9D9AAD75C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FE7717-96A7-1DFD-351B-C4C8B2A6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311F9A-65C2-E3FA-E455-7C73DB9E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C00DC8-F4EF-A945-F870-AA89C22B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828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7CADC-106D-7399-8EE4-FD5E7D5F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FF8151-7EA2-CD21-EA52-85C404759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813E77-E5D8-D313-E35C-5CA4D156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0CFD38-F1F6-5BA0-EF9E-FB2514FB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41B6EE-F63F-0322-F1BE-D5B6DF8DF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759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D27EB-51D6-0EE3-D46B-72841728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E9C7AB-32E4-3622-5940-60335159B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0DDE00-98DD-058B-0D13-A897956A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AAE8CF-5421-83B5-BCD7-444921FF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098D2F-F3FE-5159-271A-F3EA88ED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27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54F24-D8C8-2E8C-04CE-6399B513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E50E8F-6436-3386-9BD9-BDF2B383B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B9B16CC-B03C-BCB4-F3CA-CB789D3F7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B8C64C-2B3F-CCED-9B06-C814ED032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08456F-B28F-CC0B-0D7B-3D09A1878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11D6B0-B621-8E13-1C84-F1A5D056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02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FC9B8-C553-FA1A-7F25-9C1E5F06A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87705B-9C44-6857-6A00-AE0AAA8D4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339B69-546C-E1A6-732D-1A6D460AE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54F6A69-DA88-CCA9-D744-BBC87DB04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E3CAE9A-ADEF-9565-081D-04FB8EF39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35506E-AB17-B4FD-4649-9EA3534F7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976144-4D58-1ABF-CB35-8CBD7029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0196827-8320-31E6-21A6-9A33E1BE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17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4CF7E-4D3A-0D7C-86C4-C1896B64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22F1E2-2635-1CC3-25C0-AD32317A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9DC0EB-4674-0C1E-62C1-993D24642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5EF3FA-BFC0-F12E-14A4-5285FA2F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23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DAF74C-A8E1-BE93-A92A-2F5B55D6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D330A3-D05B-EEFD-CF99-D11091A8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4488A7-13DE-9D90-B1B5-E39881A3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717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0EAC3-3F10-F54D-676E-EDB801E9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C985C6-C4F0-3F47-D4A0-D328CBB24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5618EF-3167-0D21-DE1D-3204A0A31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59F8BE-2A0D-43B7-03D2-F53C88DFA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E0AC11-A294-FA00-BF0D-68CA062D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17DE47-58CA-C2F5-F2F4-4A5C7599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792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0B6239-F2A8-9596-9C8F-0D8BBD0D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DCFF04-8352-A875-DB5B-3B63D588A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2CD833-2284-3591-3D6A-D4683C44D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D924A1-5F53-AFD5-7ED7-86875D9F3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05048A-4E87-D97A-52F1-FA15552D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65348D-69E2-26EF-FC28-1C8756C3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C67144-D1D3-6097-D5EE-D3F80843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E220B7-4F92-6DF6-6693-F04239A52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29226C-2E97-0E40-A9A3-D57F2860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CB11F-FDC9-9383-A265-0D8EF4A0B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59C2EF-3E83-F5AE-5523-25F01D7F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56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1438C9-C56D-C879-13CA-C8DCC14087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545649-210A-E765-0744-B19A9BAD0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BBF070-CBAD-A60F-2257-8CC20631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896F61-0923-2CA6-634D-489D4B60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3E1C5E-7A8F-8E82-1FBD-6BD47F86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38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1736A-9A99-968B-6373-57EB03C9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030C60-7658-0564-D420-4B908F43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BA658C-F020-00DA-D9F3-B0CB5C881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709D3-C6FA-4B62-A57F-5E44E09E749E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953A0F-A450-232C-F968-90DED44B4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A9C326-3C7B-F0CC-810B-5835AE37C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45A288-B19A-4430-9350-6A7BB545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77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B1EBA-AC8D-EE3F-1007-067E55474C64}"/>
              </a:ext>
            </a:extLst>
          </p:cNvPr>
          <p:cNvSpPr txBox="1"/>
          <p:nvPr/>
        </p:nvSpPr>
        <p:spPr>
          <a:xfrm>
            <a:off x="101600" y="1783080"/>
            <a:ext cx="119888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4400" b="1">
                <a:latin typeface="Arial" panose="020B0604020202020204" pitchFamily="34" charset="0"/>
              </a:rPr>
              <a:t>Отчёт по эффективности завода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67B02-D1D7-5CA5-700B-A1BE89B648B1}"/>
              </a:ext>
            </a:extLst>
          </p:cNvPr>
          <p:cNvSpPr txBox="1"/>
          <p:nvPr/>
        </p:nvSpPr>
        <p:spPr>
          <a:xfrm>
            <a:off x="101600" y="2679521"/>
            <a:ext cx="11988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2200" dirty="0">
                <a:latin typeface="Arial" panose="020B0604020202020204" pitchFamily="34" charset="0"/>
              </a:rPr>
              <a:t>Период: 01.11.2025 </a:t>
            </a:r>
            <a:r>
              <a:rPr lang="ru-RU" sz="2200">
                <a:latin typeface="Arial" panose="020B0604020202020204" pitchFamily="34" charset="0"/>
              </a:rPr>
              <a:t>— 30.11.2025</a:t>
            </a:r>
            <a:endParaRPr lang="ru-RU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992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CFE5B-7752-CF58-5683-A59BD909494F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1</a:t>
            </a:r>
          </a:p>
        </p:txBody>
      </p:sp>
      <p:graphicFrame>
        <p:nvGraphicFramePr>
          <p:cNvPr id="3" name="cht_Pareto_L1">
            <a:extLst>
              <a:ext uri="{FF2B5EF4-FFF2-40B4-BE49-F238E27FC236}">
                <a16:creationId xmlns:a16="http://schemas.microsoft.com/office/drawing/2014/main" id="{7D5CBCFC-0771-B55A-F1E7-B5EE9D4C16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5959656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1_Daily">
            <a:extLst>
              <a:ext uri="{FF2B5EF4-FFF2-40B4-BE49-F238E27FC236}">
                <a16:creationId xmlns:a16="http://schemas.microsoft.com/office/drawing/2014/main" id="{460EBDFB-8330-AA87-14A5-D74F2CA32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1068501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01">
            <a:extLst>
              <a:ext uri="{FF2B5EF4-FFF2-40B4-BE49-F238E27FC236}">
                <a16:creationId xmlns:a16="http://schemas.microsoft.com/office/drawing/2014/main" id="{968C6319-1830-AF7D-4C47-B0A1B18E0B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2715426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740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0E5A8D-B5BC-8329-CE09-23379771ABBF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2</a:t>
            </a:r>
          </a:p>
        </p:txBody>
      </p:sp>
      <p:graphicFrame>
        <p:nvGraphicFramePr>
          <p:cNvPr id="3" name="cht_Pareto_L2">
            <a:extLst>
              <a:ext uri="{FF2B5EF4-FFF2-40B4-BE49-F238E27FC236}">
                <a16:creationId xmlns:a16="http://schemas.microsoft.com/office/drawing/2014/main" id="{C69E51B7-1291-AB53-D819-D25F5C6E10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6760109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2_Daily">
            <a:extLst>
              <a:ext uri="{FF2B5EF4-FFF2-40B4-BE49-F238E27FC236}">
                <a16:creationId xmlns:a16="http://schemas.microsoft.com/office/drawing/2014/main" id="{D13CB998-4F03-B4EC-9305-9A4F2D84C5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065797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02">
            <a:extLst>
              <a:ext uri="{FF2B5EF4-FFF2-40B4-BE49-F238E27FC236}">
                <a16:creationId xmlns:a16="http://schemas.microsoft.com/office/drawing/2014/main" id="{BF134C3E-ADC5-05FF-2712-A14673633C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6130435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4701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5F6F68-17FB-E97A-F5AC-F8FE03E2F865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3</a:t>
            </a:r>
          </a:p>
        </p:txBody>
      </p:sp>
      <p:graphicFrame>
        <p:nvGraphicFramePr>
          <p:cNvPr id="3" name="cht_Pareto_L3">
            <a:extLst>
              <a:ext uri="{FF2B5EF4-FFF2-40B4-BE49-F238E27FC236}">
                <a16:creationId xmlns:a16="http://schemas.microsoft.com/office/drawing/2014/main" id="{BD1DE919-B6E2-4CB7-CF55-2B5BCC0029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4169173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3_Daily">
            <a:extLst>
              <a:ext uri="{FF2B5EF4-FFF2-40B4-BE49-F238E27FC236}">
                <a16:creationId xmlns:a16="http://schemas.microsoft.com/office/drawing/2014/main" id="{EA7396D5-778E-0D88-2795-AD995962FB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4910877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03">
            <a:extLst>
              <a:ext uri="{FF2B5EF4-FFF2-40B4-BE49-F238E27FC236}">
                <a16:creationId xmlns:a16="http://schemas.microsoft.com/office/drawing/2014/main" id="{9B02FFF3-FBF3-47CE-4639-C35F289D90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7623398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1314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9E90F1-B511-5D53-4C41-8DF6DF488646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4</a:t>
            </a:r>
          </a:p>
        </p:txBody>
      </p:sp>
      <p:graphicFrame>
        <p:nvGraphicFramePr>
          <p:cNvPr id="3" name="cht_Pareto_L4">
            <a:extLst>
              <a:ext uri="{FF2B5EF4-FFF2-40B4-BE49-F238E27FC236}">
                <a16:creationId xmlns:a16="http://schemas.microsoft.com/office/drawing/2014/main" id="{7413B3E6-6A20-1086-1AB6-3971E29BD1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986336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4_Daily">
            <a:extLst>
              <a:ext uri="{FF2B5EF4-FFF2-40B4-BE49-F238E27FC236}">
                <a16:creationId xmlns:a16="http://schemas.microsoft.com/office/drawing/2014/main" id="{A19682D8-9143-040C-66A5-78E72FD0E5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743866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04">
            <a:extLst>
              <a:ext uri="{FF2B5EF4-FFF2-40B4-BE49-F238E27FC236}">
                <a16:creationId xmlns:a16="http://schemas.microsoft.com/office/drawing/2014/main" id="{7DBCE1B0-9568-A7BC-1FFB-B3B8F97284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5437210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358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CC3CB-631B-CE17-FDB2-EFE867E2DBD5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5</a:t>
            </a:r>
          </a:p>
        </p:txBody>
      </p:sp>
      <p:graphicFrame>
        <p:nvGraphicFramePr>
          <p:cNvPr id="3" name="cht_Pareto_L5">
            <a:extLst>
              <a:ext uri="{FF2B5EF4-FFF2-40B4-BE49-F238E27FC236}">
                <a16:creationId xmlns:a16="http://schemas.microsoft.com/office/drawing/2014/main" id="{7C2A1EF1-3A98-D171-5306-CE8848304A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598599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5_Daily">
            <a:extLst>
              <a:ext uri="{FF2B5EF4-FFF2-40B4-BE49-F238E27FC236}">
                <a16:creationId xmlns:a16="http://schemas.microsoft.com/office/drawing/2014/main" id="{9317DA95-5E49-CD02-06E9-AC3D63BFCA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9285661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05">
            <a:extLst>
              <a:ext uri="{FF2B5EF4-FFF2-40B4-BE49-F238E27FC236}">
                <a16:creationId xmlns:a16="http://schemas.microsoft.com/office/drawing/2014/main" id="{2FEFFF7D-05FC-ADB7-755D-2FEAAB3396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0949589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78790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268AD-ED55-ACA7-87A6-9506ABA4C628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6</a:t>
            </a:r>
          </a:p>
        </p:txBody>
      </p:sp>
      <p:graphicFrame>
        <p:nvGraphicFramePr>
          <p:cNvPr id="3" name="cht_Pareto_L6">
            <a:extLst>
              <a:ext uri="{FF2B5EF4-FFF2-40B4-BE49-F238E27FC236}">
                <a16:creationId xmlns:a16="http://schemas.microsoft.com/office/drawing/2014/main" id="{A77A99D6-4474-0D6C-D9AD-58380A3A71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820357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6_Daily">
            <a:extLst>
              <a:ext uri="{FF2B5EF4-FFF2-40B4-BE49-F238E27FC236}">
                <a16:creationId xmlns:a16="http://schemas.microsoft.com/office/drawing/2014/main" id="{E0378215-1FB3-A15D-7AFF-E5AFDDACE9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270725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06">
            <a:extLst>
              <a:ext uri="{FF2B5EF4-FFF2-40B4-BE49-F238E27FC236}">
                <a16:creationId xmlns:a16="http://schemas.microsoft.com/office/drawing/2014/main" id="{34EF7D8F-4B59-5AD6-77AB-E5F8CA5578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6572072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24519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B9A62-472B-1518-6A56-E2227AD65D73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7</a:t>
            </a:r>
          </a:p>
        </p:txBody>
      </p:sp>
      <p:graphicFrame>
        <p:nvGraphicFramePr>
          <p:cNvPr id="3" name="cht_Pareto_L7">
            <a:extLst>
              <a:ext uri="{FF2B5EF4-FFF2-40B4-BE49-F238E27FC236}">
                <a16:creationId xmlns:a16="http://schemas.microsoft.com/office/drawing/2014/main" id="{8B8D7FC8-A9A8-4F3E-29F9-C283CD17E5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3604928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7_Daily">
            <a:extLst>
              <a:ext uri="{FF2B5EF4-FFF2-40B4-BE49-F238E27FC236}">
                <a16:creationId xmlns:a16="http://schemas.microsoft.com/office/drawing/2014/main" id="{8A885A16-E557-D7C8-F847-88AD94C7B3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9704257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07">
            <a:extLst>
              <a:ext uri="{FF2B5EF4-FFF2-40B4-BE49-F238E27FC236}">
                <a16:creationId xmlns:a16="http://schemas.microsoft.com/office/drawing/2014/main" id="{88BDC4FA-7160-2F0E-5602-228087B640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6191877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20687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FE101-5898-9B9B-CD3C-B04B5E5F70F3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8</a:t>
            </a:r>
          </a:p>
        </p:txBody>
      </p:sp>
      <p:graphicFrame>
        <p:nvGraphicFramePr>
          <p:cNvPr id="3" name="cht_Pareto_L8">
            <a:extLst>
              <a:ext uri="{FF2B5EF4-FFF2-40B4-BE49-F238E27FC236}">
                <a16:creationId xmlns:a16="http://schemas.microsoft.com/office/drawing/2014/main" id="{DA37CFC2-F270-8A77-FAAE-A5A0C041E5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1100567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8_Daily">
            <a:extLst>
              <a:ext uri="{FF2B5EF4-FFF2-40B4-BE49-F238E27FC236}">
                <a16:creationId xmlns:a16="http://schemas.microsoft.com/office/drawing/2014/main" id="{C7A5900C-3505-F491-7BCF-A2D6B1AF7A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1860395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08">
            <a:extLst>
              <a:ext uri="{FF2B5EF4-FFF2-40B4-BE49-F238E27FC236}">
                <a16:creationId xmlns:a16="http://schemas.microsoft.com/office/drawing/2014/main" id="{E810FFA1-4832-C470-D115-8084E1C792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9809126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4635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FFAB76-6C3F-2801-1849-9D4F842BDC29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9</a:t>
            </a:r>
          </a:p>
        </p:txBody>
      </p:sp>
      <p:graphicFrame>
        <p:nvGraphicFramePr>
          <p:cNvPr id="3" name="cht_Pareto_L9">
            <a:extLst>
              <a:ext uri="{FF2B5EF4-FFF2-40B4-BE49-F238E27FC236}">
                <a16:creationId xmlns:a16="http://schemas.microsoft.com/office/drawing/2014/main" id="{6672F5B7-A724-DE61-E7AA-D5B170DCCB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5557023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9_Daily">
            <a:extLst>
              <a:ext uri="{FF2B5EF4-FFF2-40B4-BE49-F238E27FC236}">
                <a16:creationId xmlns:a16="http://schemas.microsoft.com/office/drawing/2014/main" id="{EB205FC3-1588-B5D7-55F4-1D4EB8C556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1441763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09">
            <a:extLst>
              <a:ext uri="{FF2B5EF4-FFF2-40B4-BE49-F238E27FC236}">
                <a16:creationId xmlns:a16="http://schemas.microsoft.com/office/drawing/2014/main" id="{3B573BCB-3A13-DFCD-358D-E81E1E5787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5893901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8945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529B5-D6C9-8CF1-9357-C969357552DD}"/>
              </a:ext>
            </a:extLst>
          </p:cNvPr>
          <p:cNvSpPr txBox="1"/>
          <p:nvPr/>
        </p:nvSpPr>
        <p:spPr>
          <a:xfrm>
            <a:off x="0" y="50800"/>
            <a:ext cx="1219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ru-RU" sz="2000" b="1">
                <a:latin typeface="Arial" panose="020B0604020202020204" pitchFamily="34" charset="0"/>
              </a:rPr>
              <a:t>Линия 10</a:t>
            </a:r>
          </a:p>
        </p:txBody>
      </p:sp>
      <p:graphicFrame>
        <p:nvGraphicFramePr>
          <p:cNvPr id="3" name="cht_Pareto_L10">
            <a:extLst>
              <a:ext uri="{FF2B5EF4-FFF2-40B4-BE49-F238E27FC236}">
                <a16:creationId xmlns:a16="http://schemas.microsoft.com/office/drawing/2014/main" id="{36CB850A-44F2-235E-07CF-203FDF6458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9173898"/>
              </p:ext>
            </p:extLst>
          </p:nvPr>
        </p:nvGraphicFramePr>
        <p:xfrm>
          <a:off x="275590" y="614045"/>
          <a:ext cx="5646420" cy="5960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Q_L10_Daily">
            <a:extLst>
              <a:ext uri="{FF2B5EF4-FFF2-40B4-BE49-F238E27FC236}">
                <a16:creationId xmlns:a16="http://schemas.microsoft.com/office/drawing/2014/main" id="{55F6A799-BEB3-B5B5-466E-9CC386C9C1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4872166"/>
              </p:ext>
            </p:extLst>
          </p:nvPr>
        </p:nvGraphicFramePr>
        <p:xfrm>
          <a:off x="6269990" y="5349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Bottles_Daily_L10">
            <a:extLst>
              <a:ext uri="{FF2B5EF4-FFF2-40B4-BE49-F238E27FC236}">
                <a16:creationId xmlns:a16="http://schemas.microsoft.com/office/drawing/2014/main" id="{EADD80E9-A299-8638-8B2D-021FAEA67E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0337938"/>
              </p:ext>
            </p:extLst>
          </p:nvPr>
        </p:nvGraphicFramePr>
        <p:xfrm>
          <a:off x="6269990" y="3697288"/>
          <a:ext cx="5646420" cy="295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113057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556</Words>
  <Application>Microsoft Office PowerPoint</Application>
  <PresentationFormat>Широкоэкранный</PresentationFormat>
  <Paragraphs>82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Глушук Богдан Юрьевич</dc:creator>
  <cp:lastModifiedBy>Глушук Богдан Юрьевич</cp:lastModifiedBy>
  <cp:revision>2</cp:revision>
  <dcterms:created xsi:type="dcterms:W3CDTF">2025-12-10T11:44:59Z</dcterms:created>
  <dcterms:modified xsi:type="dcterms:W3CDTF">2025-12-10T11:48:49Z</dcterms:modified>
</cp:coreProperties>
</file>